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Hind"/>
      <p:regular r:id="rId201314"/>
    </p:embeddedFont>
    <p:embeddedFont>
      <p:font typeface="Hind Bold"/>
      <p:regular r:id="rId201315"/>
    </p:embeddedFont>
    <p:embeddedFont>
      <p:font typeface="JetBrains Mono Medium"/>
      <p:regular r:id="rId201316"/>
    </p:embeddedFont>
    <p:embeddedFont>
      <p:font typeface="JetBrains Mono SemiBold"/>
      <p:regular r:id="rId201317"/>
    </p:embeddedFont>
    <p:embeddedFont>
      <p:font typeface="Saira Semi Condensed Bold"/>
      <p:regular r:id="rId201318"/>
    </p:embeddedFont>
    <p:embeddedFont>
      <p:font typeface="Saira Semi Condensed Extra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EcoRoute as one operating loop for logistics teams: plan better, see the fleet clearly, and act on sustainability signals while the work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fragmentation clearly. Dispatchers optimize under pressure, drivers need routes they can execute, and leaders need proof that the choices are working. The shared picture is the missing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EcoRoute as a loop rather than a dashboard. Planning creates a hypothesis, monitoring shows what happened, and impact analytics make the next plan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raw inputs to the human interface. Telemetry alone is not the product. Routing context and analytics turn it into a recommendation, and the dashboard makes that recommendation usable for managers and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prototype screen as evidence that the journey starts with a role-based workspace. The workflow then follows the manager's actual job: select, adjust, simulate,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prototype as working functionality, not a concept sketch. Fleet cards, carbon comparisons, and trip simulation are already organized around the operator's decision before dispatch.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immediate value from the future scope. The first release improves the quality and speed of dispatch decisions. Later capabilities use the same data foundation to make the network more adaptive.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team in role-based language. Product defines the problem, experience makes it usable, engineering and data make it real, and validation proves whether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screen to demonstrate the core interaction. The operator changes payload, elevation, traffic avoidance, and EV preference, then reads the route and KPI response before committing the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measurable outcomes. The prototype surfaces carbon saved, fuel saved, energy efficiency, and active fleet status in one view, giving the team a common way to judge the effect of each route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2A0C20"/>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521A3E"/>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559" cy="6858000"/>
          </a:xfrm>
          <a:prstGeom prst="rect">
            <a:avLst/>
          </a:prstGeom>
          <a:solidFill>
            <a:srgbClr val="4FD1D9"/>
          </a:solidFill>
          <a:ln/>
        </p:spPr>
      </p:sp>
      <p:sp>
        <p:nvSpPr>
          <p:cNvPr id="3" name="Text 1"/>
          <p:cNvSpPr/>
          <p:nvPr/>
        </p:nvSpPr>
        <p:spPr>
          <a:xfrm>
            <a:off x="2362141" y="694531"/>
            <a:ext cx="9626359"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FLEET OPERATIONS CONCEPT</a:t>
            </a:r>
            <a:endParaRPr lang="en-US" sz="1100" dirty="0"/>
          </a:p>
        </p:txBody>
      </p:sp>
      <p:sp>
        <p:nvSpPr>
          <p:cNvPr id="4" name="Text 2"/>
          <p:cNvSpPr/>
          <p:nvPr/>
        </p:nvSpPr>
        <p:spPr>
          <a:xfrm>
            <a:off x="2362141" y="1038224"/>
            <a:ext cx="9016774" cy="1016000"/>
          </a:xfrm>
          <a:prstGeom prst="rect">
            <a:avLst/>
          </a:prstGeom>
          <a:noFill/>
          <a:ln/>
        </p:spPr>
        <p:txBody>
          <a:bodyPr wrap="none" lIns="0" tIns="0" rIns="0" bIns="0" rtlCol="0" anchor="t"/>
          <a:lstStyle/>
          <a:p>
            <a:pPr algn="l" indent="0" marL="0">
              <a:lnSpc>
                <a:spcPct val="83000"/>
              </a:lnSpc>
              <a:buNone/>
            </a:pPr>
            <a:r>
              <a:rPr lang="en-US" sz="8000" spc="-160" kern="100" dirty="0">
                <a:solidFill>
                  <a:srgbClr val="FFF1E4"/>
                </a:solidFill>
                <a:latin typeface="Saira Semi Condensed ExtraBold" pitchFamily="34" charset="0"/>
                <a:ea typeface="Saira Semi Condensed ExtraBold" pitchFamily="34" charset="-122"/>
                <a:cs typeface="Saira Semi Condensed ExtraBold" pitchFamily="34" charset="-120"/>
              </a:rPr>
              <a:t>EcoRoute</a:t>
            </a:r>
            <a:endParaRPr lang="en-US" sz="8000" dirty="0"/>
          </a:p>
        </p:txBody>
      </p:sp>
      <p:sp>
        <p:nvSpPr>
          <p:cNvPr id="5" name="Text 3"/>
          <p:cNvSpPr/>
          <p:nvPr/>
        </p:nvSpPr>
        <p:spPr>
          <a:xfrm>
            <a:off x="2362141" y="2214562"/>
            <a:ext cx="9016774" cy="1676400"/>
          </a:xfrm>
          <a:prstGeom prst="rect">
            <a:avLst/>
          </a:prstGeom>
          <a:noFill/>
          <a:ln/>
        </p:spPr>
        <p:txBody>
          <a:bodyPr wrap="square" lIns="0" tIns="0" rIns="0" bIns="0" rtlCol="0" anchor="t">
            <a:normAutofit/>
          </a:bodyPr>
          <a:lstStyle/>
          <a:p>
            <a:pPr algn="l" indent="0" marL="0">
              <a:lnSpc>
                <a:spcPct val="83000"/>
              </a:lnSpc>
              <a:buNone/>
            </a:pPr>
            <a:r>
              <a:rPr lang="en-US" sz="6600" spc="-132" kern="100" dirty="0">
                <a:solidFill>
                  <a:srgbClr val="4FD1D9"/>
                </a:solidFill>
                <a:latin typeface="Saira Semi Condensed ExtraBold" pitchFamily="34" charset="0"/>
                <a:ea typeface="Saira Semi Condensed ExtraBold" pitchFamily="34" charset="-122"/>
                <a:cs typeface="Saira Semi Condensed ExtraBold" pitchFamily="34" charset="-120"/>
              </a:rPr>
              <a:t>smarter logistics,</a:t>
            </a:r>
            <a:endParaRPr lang="en-US" sz="6600" dirty="0"/>
          </a:p>
          <a:p>
            <a:pPr algn="l" indent="0" marL="0">
              <a:lnSpc>
                <a:spcPct val="83000"/>
              </a:lnSpc>
              <a:buNone/>
            </a:pPr>
            <a:r>
              <a:rPr lang="en-US" sz="6600" spc="-132" kern="100" dirty="0">
                <a:solidFill>
                  <a:srgbClr val="FFF1E4"/>
                </a:solidFill>
                <a:latin typeface="Saira Semi Condensed ExtraBold" pitchFamily="34" charset="0"/>
                <a:ea typeface="Saira Semi Condensed ExtraBold" pitchFamily="34" charset="-122"/>
                <a:cs typeface="Saira Semi Condensed ExtraBold" pitchFamily="34" charset="-120"/>
              </a:rPr>
              <a:t>lower emissions</a:t>
            </a:r>
            <a:endParaRPr lang="en-US" sz="6600" dirty="0"/>
          </a:p>
        </p:txBody>
      </p:sp>
      <p:sp>
        <p:nvSpPr>
          <p:cNvPr id="6" name="Text 4"/>
          <p:cNvSpPr/>
          <p:nvPr/>
        </p:nvSpPr>
        <p:spPr>
          <a:xfrm>
            <a:off x="2362141" y="4038600"/>
            <a:ext cx="9016774" cy="621705"/>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7E9EF"/>
                </a:solidFill>
                <a:latin typeface="Hind" pitchFamily="34" charset="0"/>
                <a:ea typeface="Hind" pitchFamily="34" charset="-122"/>
                <a:cs typeface="Hind" pitchFamily="34" charset="-120"/>
              </a:rPr>
              <a:t>A fleet-operations concept that helps logistics teams plan efficient routes, monitor vehicles, and act on live sustainability signals.</a:t>
            </a:r>
            <a:endParaRPr lang="en-US" sz="1800" dirty="0"/>
          </a:p>
        </p:txBody>
      </p:sp>
      <p:sp>
        <p:nvSpPr>
          <p:cNvPr id="7" name="Text 5"/>
          <p:cNvSpPr/>
          <p:nvPr/>
        </p:nvSpPr>
        <p:spPr>
          <a:xfrm>
            <a:off x="2362141" y="6138466"/>
            <a:ext cx="9626359"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PLANNING · MONITORING · IMPACT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THE OPERATING GAP</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01</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406390" y="1118235"/>
            <a:ext cx="11378915" cy="518120"/>
          </a:xfrm>
          <a:prstGeom prst="rect">
            <a:avLst/>
          </a:prstGeom>
          <a:noFill/>
          <a:ln/>
        </p:spPr>
        <p:txBody>
          <a:bodyPr wrap="none" lIns="0" tIns="0" rIns="0" bIns="0" rtlCol="0" anchor="t"/>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Logistics teams lack one shared operating picture</a:t>
            </a:r>
            <a:endParaRPr lang="en-US" sz="4000" dirty="0"/>
          </a:p>
        </p:txBody>
      </p:sp>
      <p:sp>
        <p:nvSpPr>
          <p:cNvPr id="6" name="Text 4"/>
          <p:cNvSpPr/>
          <p:nvPr/>
        </p:nvSpPr>
        <p:spPr>
          <a:xfrm>
            <a:off x="406390" y="1781770"/>
            <a:ext cx="11785305"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The decision is shared across teams, but the signals are not.</a:t>
            </a:r>
            <a:endParaRPr lang="en-US" sz="1600" dirty="0"/>
          </a:p>
        </p:txBody>
      </p:sp>
      <p:sp>
        <p:nvSpPr>
          <p:cNvPr id="7" name="Shape 5"/>
          <p:cNvSpPr/>
          <p:nvPr/>
        </p:nvSpPr>
        <p:spPr>
          <a:xfrm>
            <a:off x="406390" y="2235895"/>
            <a:ext cx="3589744" cy="2970213"/>
          </a:xfrm>
          <a:prstGeom prst="roundRect">
            <a:avLst>
              <a:gd name="adj" fmla="val 1026"/>
            </a:avLst>
          </a:prstGeom>
          <a:noFill/>
          <a:ln w="25399">
            <a:solidFill>
              <a:srgbClr val="35B7BF"/>
            </a:solidFill>
            <a:prstDash val="solid"/>
          </a:ln>
        </p:spPr>
      </p:sp>
      <p:pic>
        <p:nvPicPr>
          <p:cNvPr id="8" name="Image 0" descr="preencoded.png">    </p:cNvPr>
          <p:cNvPicPr>
            <a:picLocks noChangeAspect="1"/>
          </p:cNvPicPr>
          <p:nvPr/>
        </p:nvPicPr>
        <p:blipFill>
          <a:blip r:embed="rId1"/>
          <a:stretch>
            <a:fillRect/>
          </a:stretch>
        </p:blipFill>
        <p:spPr>
          <a:xfrm>
            <a:off x="660383" y="2489895"/>
            <a:ext cx="406390" cy="406400"/>
          </a:xfrm>
          <a:prstGeom prst="rect">
            <a:avLst/>
          </a:prstGeom>
        </p:spPr>
      </p:pic>
      <p:sp>
        <p:nvSpPr>
          <p:cNvPr id="9" name="Text 6"/>
          <p:cNvSpPr/>
          <p:nvPr/>
        </p:nvSpPr>
        <p:spPr>
          <a:xfrm>
            <a:off x="660383" y="3010595"/>
            <a:ext cx="3081756" cy="693341"/>
          </a:xfrm>
          <a:prstGeom prst="rect">
            <a:avLst/>
          </a:prstGeom>
          <a:noFill/>
          <a:ln/>
        </p:spPr>
        <p:txBody>
          <a:bodyPr wrap="square" lIns="0" tIns="0" rIns="0" bIns="0" rtlCol="0" anchor="t">
            <a:normAutofit/>
          </a:bodyPr>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Dispatchers balance competing constraints</a:t>
            </a:r>
            <a:endParaRPr lang="en-US" sz="2100" dirty="0"/>
          </a:p>
        </p:txBody>
      </p:sp>
      <p:sp>
        <p:nvSpPr>
          <p:cNvPr id="10" name="Text 7"/>
          <p:cNvSpPr/>
          <p:nvPr/>
        </p:nvSpPr>
        <p:spPr>
          <a:xfrm>
            <a:off x="660383" y="3846810"/>
            <a:ext cx="3081756" cy="1105297"/>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Delivery commitments, vehicle availability, payload, traffic, and battery or fuel constraints all shape the route.</a:t>
            </a:r>
            <a:endParaRPr lang="en-US" sz="1600" dirty="0"/>
          </a:p>
        </p:txBody>
      </p:sp>
      <p:sp>
        <p:nvSpPr>
          <p:cNvPr id="11" name="Shape 8"/>
          <p:cNvSpPr/>
          <p:nvPr/>
        </p:nvSpPr>
        <p:spPr>
          <a:xfrm>
            <a:off x="4300926" y="2235895"/>
            <a:ext cx="3589744" cy="2970213"/>
          </a:xfrm>
          <a:prstGeom prst="roundRect">
            <a:avLst>
              <a:gd name="adj" fmla="val 1026"/>
            </a:avLst>
          </a:prstGeom>
          <a:noFill/>
          <a:ln w="25399">
            <a:solidFill>
              <a:srgbClr val="35B7BF"/>
            </a:solidFill>
            <a:prstDash val="solid"/>
          </a:ln>
        </p:spPr>
      </p:sp>
      <p:sp>
        <p:nvSpPr>
          <p:cNvPr id="12" name="Text 9"/>
          <p:cNvSpPr/>
          <p:nvPr/>
        </p:nvSpPr>
        <p:spPr>
          <a:xfrm>
            <a:off x="4554920" y="2794695"/>
            <a:ext cx="3081756" cy="693341"/>
          </a:xfrm>
          <a:prstGeom prst="rect">
            <a:avLst/>
          </a:prstGeom>
          <a:noFill/>
          <a:ln/>
        </p:spPr>
        <p:txBody>
          <a:bodyPr wrap="square" lIns="0" tIns="0" rIns="0" bIns="0" rtlCol="0" anchor="t">
            <a:normAutofit/>
          </a:bodyPr>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Drivers need practical routes</a:t>
            </a:r>
            <a:endParaRPr lang="en-US" sz="2100" dirty="0"/>
          </a:p>
        </p:txBody>
      </p:sp>
      <p:sp>
        <p:nvSpPr>
          <p:cNvPr id="13" name="Text 10"/>
          <p:cNvSpPr/>
          <p:nvPr/>
        </p:nvSpPr>
        <p:spPr>
          <a:xfrm>
            <a:off x="4554920" y="3630910"/>
            <a:ext cx="3081756" cy="828973"/>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A route must work on the road, not only look efficient in a planning tool.</a:t>
            </a:r>
            <a:endParaRPr lang="en-US" sz="1600" dirty="0"/>
          </a:p>
        </p:txBody>
      </p:sp>
      <p:sp>
        <p:nvSpPr>
          <p:cNvPr id="14" name="Shape 11"/>
          <p:cNvSpPr/>
          <p:nvPr/>
        </p:nvSpPr>
        <p:spPr>
          <a:xfrm>
            <a:off x="8195462" y="2235895"/>
            <a:ext cx="3589744" cy="2970213"/>
          </a:xfrm>
          <a:prstGeom prst="roundRect">
            <a:avLst>
              <a:gd name="adj" fmla="val 1026"/>
            </a:avLst>
          </a:prstGeom>
          <a:noFill/>
          <a:ln w="25399">
            <a:solidFill>
              <a:srgbClr val="35B7BF"/>
            </a:solidFill>
            <a:prstDash val="solid"/>
          </a:ln>
        </p:spPr>
      </p:sp>
      <p:sp>
        <p:nvSpPr>
          <p:cNvPr id="15" name="Text 12"/>
          <p:cNvSpPr/>
          <p:nvPr/>
        </p:nvSpPr>
        <p:spPr>
          <a:xfrm>
            <a:off x="8449456" y="2794695"/>
            <a:ext cx="3081756"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Leaders need evidence</a:t>
            </a:r>
            <a:endParaRPr lang="en-US" sz="2100" dirty="0"/>
          </a:p>
        </p:txBody>
      </p:sp>
      <p:sp>
        <p:nvSpPr>
          <p:cNvPr id="16" name="Text 13"/>
          <p:cNvSpPr/>
          <p:nvPr/>
        </p:nvSpPr>
        <p:spPr>
          <a:xfrm>
            <a:off x="8449456" y="3284240"/>
            <a:ext cx="3081756" cy="828973"/>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Service, cost, and environmental performance should improve together.</a:t>
            </a:r>
            <a:endParaRPr lang="en-US" sz="1600" dirty="0"/>
          </a:p>
        </p:txBody>
      </p:sp>
      <p:sp>
        <p:nvSpPr>
          <p:cNvPr id="17" name="Text 14"/>
          <p:cNvSpPr/>
          <p:nvPr/>
        </p:nvSpPr>
        <p:spPr>
          <a:xfrm>
            <a:off x="406390" y="5439966"/>
            <a:ext cx="11785305"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WHEN SIGNALS SIT APART, DISPATCH BECOMES SLOWER AND HARDER TO IMPROVE.</a:t>
            </a:r>
            <a:endParaRPr lang="en-US" sz="1050" dirty="0"/>
          </a:p>
        </p:txBody>
      </p:sp>
      <p:sp>
        <p:nvSpPr>
          <p:cNvPr id="18" name="Shape 15"/>
          <p:cNvSpPr/>
          <p:nvPr/>
        </p:nvSpPr>
        <p:spPr>
          <a:xfrm>
            <a:off x="0" y="5829300"/>
            <a:ext cx="12191695" cy="1028700"/>
          </a:xfrm>
          <a:prstGeom prst="rect">
            <a:avLst/>
          </a:prstGeom>
          <a:solidFill>
            <a:srgbClr val="6B2752"/>
          </a:solidFill>
          <a:ln/>
        </p:spPr>
      </p:sp>
      <p:sp>
        <p:nvSpPr>
          <p:cNvPr id="19" name="Shape 16"/>
          <p:cNvSpPr/>
          <p:nvPr/>
        </p:nvSpPr>
        <p:spPr>
          <a:xfrm>
            <a:off x="0" y="5829300"/>
            <a:ext cx="12191695" cy="25400"/>
          </a:xfrm>
          <a:prstGeom prst="rect">
            <a:avLst/>
          </a:prstGeom>
          <a:solidFill>
            <a:srgbClr val="FFB23E"/>
          </a:solidFill>
          <a:ln/>
        </p:spPr>
      </p:sp>
      <p:sp>
        <p:nvSpPr>
          <p:cNvPr id="20" name="Text 17"/>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21" name="Text 18"/>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EcoRoute gives every role the same operating picture, with a decision path attached.</a:t>
            </a:r>
            <a:endParaRPr lang="en-US" sz="1600" dirty="0"/>
          </a:p>
        </p:txBody>
      </p:sp>
      <p:sp>
        <p:nvSpPr>
          <p:cNvPr id="22" name="Text 19"/>
          <p:cNvSpPr/>
          <p:nvPr/>
        </p:nvSpPr>
        <p:spPr>
          <a:xfrm>
            <a:off x="11748397" y="61714"/>
            <a:ext cx="443298"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THE ECO ROUTE LOOP</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02</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406390" y="1118235"/>
            <a:ext cx="11378915" cy="518120"/>
          </a:xfrm>
          <a:prstGeom prst="rect">
            <a:avLst/>
          </a:prstGeom>
          <a:noFill/>
          <a:ln/>
        </p:spPr>
        <p:txBody>
          <a:bodyPr wrap="none" lIns="0" tIns="0" rIns="0" bIns="0" rtlCol="0" anchor="t"/>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EcoRoute combines planning, monitoring, and impact</a:t>
            </a:r>
            <a:endParaRPr lang="en-US" sz="4000" dirty="0"/>
          </a:p>
        </p:txBody>
      </p:sp>
      <p:sp>
        <p:nvSpPr>
          <p:cNvPr id="6" name="Text 4"/>
          <p:cNvSpPr/>
          <p:nvPr/>
        </p:nvSpPr>
        <p:spPr>
          <a:xfrm>
            <a:off x="406390" y="1781770"/>
            <a:ext cx="11785305"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One workflow connects the choice before dispatch to the evidence after the trip.</a:t>
            </a:r>
            <a:endParaRPr lang="en-US" sz="1600" dirty="0"/>
          </a:p>
        </p:txBody>
      </p:sp>
      <p:sp>
        <p:nvSpPr>
          <p:cNvPr id="7" name="Shape 5"/>
          <p:cNvSpPr/>
          <p:nvPr/>
        </p:nvSpPr>
        <p:spPr>
          <a:xfrm>
            <a:off x="406390" y="2169914"/>
            <a:ext cx="3589645" cy="19050"/>
          </a:xfrm>
          <a:prstGeom prst="rect">
            <a:avLst/>
          </a:prstGeom>
          <a:solidFill>
            <a:srgbClr val="4FD1D9"/>
          </a:solidFill>
          <a:ln/>
        </p:spPr>
      </p:sp>
      <p:sp>
        <p:nvSpPr>
          <p:cNvPr id="8" name="Text 6"/>
          <p:cNvSpPr/>
          <p:nvPr/>
        </p:nvSpPr>
        <p:spPr>
          <a:xfrm>
            <a:off x="406390" y="2623145"/>
            <a:ext cx="3589744"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Plan</a:t>
            </a:r>
            <a:endParaRPr lang="en-US" sz="2100" dirty="0"/>
          </a:p>
        </p:txBody>
      </p:sp>
      <p:sp>
        <p:nvSpPr>
          <p:cNvPr id="9" name="Text 7"/>
          <p:cNvSpPr/>
          <p:nvPr/>
        </p:nvSpPr>
        <p:spPr>
          <a:xfrm>
            <a:off x="406390" y="3112691"/>
            <a:ext cx="3589744"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Unify fleet status, route planning, trip simulation, and carbon analytics.</a:t>
            </a:r>
            <a:endParaRPr lang="en-US" sz="1600" dirty="0"/>
          </a:p>
        </p:txBody>
      </p:sp>
      <p:sp>
        <p:nvSpPr>
          <p:cNvPr id="10" name="Shape 8"/>
          <p:cNvSpPr/>
          <p:nvPr/>
        </p:nvSpPr>
        <p:spPr>
          <a:xfrm>
            <a:off x="4300926" y="2169914"/>
            <a:ext cx="3589645" cy="19050"/>
          </a:xfrm>
          <a:prstGeom prst="rect">
            <a:avLst/>
          </a:prstGeom>
          <a:solidFill>
            <a:srgbClr val="4FD1D9"/>
          </a:solidFill>
          <a:ln/>
        </p:spPr>
      </p:sp>
      <p:sp>
        <p:nvSpPr>
          <p:cNvPr id="11" name="Text 9"/>
          <p:cNvSpPr/>
          <p:nvPr/>
        </p:nvSpPr>
        <p:spPr>
          <a:xfrm>
            <a:off x="4300926" y="2623145"/>
            <a:ext cx="3589744"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Monitor</a:t>
            </a:r>
            <a:endParaRPr lang="en-US" sz="2100" dirty="0"/>
          </a:p>
        </p:txBody>
      </p:sp>
      <p:sp>
        <p:nvSpPr>
          <p:cNvPr id="12" name="Text 10"/>
          <p:cNvSpPr/>
          <p:nvPr/>
        </p:nvSpPr>
        <p:spPr>
          <a:xfrm>
            <a:off x="4300926" y="3112691"/>
            <a:ext cx="3589744"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See vehicles, payload, traffic, elevation, and EV preference signals in context.</a:t>
            </a:r>
            <a:endParaRPr lang="en-US" sz="1600" dirty="0"/>
          </a:p>
        </p:txBody>
      </p:sp>
      <p:sp>
        <p:nvSpPr>
          <p:cNvPr id="13" name="Shape 11"/>
          <p:cNvSpPr/>
          <p:nvPr/>
        </p:nvSpPr>
        <p:spPr>
          <a:xfrm>
            <a:off x="8195462" y="2169914"/>
            <a:ext cx="3589645" cy="19050"/>
          </a:xfrm>
          <a:prstGeom prst="rect">
            <a:avLst/>
          </a:prstGeom>
          <a:solidFill>
            <a:srgbClr val="4FD1D9"/>
          </a:solidFill>
          <a:ln/>
        </p:spPr>
      </p:sp>
      <p:sp>
        <p:nvSpPr>
          <p:cNvPr id="14" name="Text 12"/>
          <p:cNvSpPr/>
          <p:nvPr/>
        </p:nvSpPr>
        <p:spPr>
          <a:xfrm>
            <a:off x="8195462" y="2623145"/>
            <a:ext cx="3589744"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Improve</a:t>
            </a:r>
            <a:endParaRPr lang="en-US" sz="2100" dirty="0"/>
          </a:p>
        </p:txBody>
      </p:sp>
      <p:sp>
        <p:nvSpPr>
          <p:cNvPr id="15" name="Text 13"/>
          <p:cNvSpPr/>
          <p:nvPr/>
        </p:nvSpPr>
        <p:spPr>
          <a:xfrm>
            <a:off x="8195462" y="3112691"/>
            <a:ext cx="3589744" cy="828973"/>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Compare planned and completed trips, then feed the learning into the next decision.</a:t>
            </a:r>
            <a:endParaRPr lang="en-US" sz="1600" dirty="0"/>
          </a:p>
        </p:txBody>
      </p:sp>
      <p:sp>
        <p:nvSpPr>
          <p:cNvPr id="16" name="Text 14"/>
          <p:cNvSpPr/>
          <p:nvPr/>
        </p:nvSpPr>
        <p:spPr>
          <a:xfrm>
            <a:off x="406390" y="5049341"/>
            <a:ext cx="5689458"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SCENARIO TESTING</a:t>
            </a:r>
            <a:endParaRPr lang="en-US" sz="1050" dirty="0"/>
          </a:p>
        </p:txBody>
      </p:sp>
      <p:sp>
        <p:nvSpPr>
          <p:cNvPr id="17" name="Text 15"/>
          <p:cNvSpPr/>
          <p:nvPr/>
        </p:nvSpPr>
        <p:spPr>
          <a:xfrm>
            <a:off x="406390" y="5324376"/>
            <a:ext cx="5689458"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Try the route before dispatch and make trade-offs visible.</a:t>
            </a:r>
            <a:endParaRPr lang="en-US" sz="1600" dirty="0"/>
          </a:p>
        </p:txBody>
      </p:sp>
      <p:sp>
        <p:nvSpPr>
          <p:cNvPr id="18" name="Text 16"/>
          <p:cNvSpPr/>
          <p:nvPr/>
        </p:nvSpPr>
        <p:spPr>
          <a:xfrm>
            <a:off x="6324442" y="5049341"/>
            <a:ext cx="5460863"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FEEDBACK LOOP</a:t>
            </a:r>
            <a:endParaRPr lang="en-US" sz="1050" dirty="0"/>
          </a:p>
        </p:txBody>
      </p:sp>
      <p:sp>
        <p:nvSpPr>
          <p:cNvPr id="19" name="Text 17"/>
          <p:cNvSpPr/>
          <p:nvPr/>
        </p:nvSpPr>
        <p:spPr>
          <a:xfrm>
            <a:off x="6324442" y="5324376"/>
            <a:ext cx="5460863"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Use completed trips to improve the next plan.</a:t>
            </a:r>
            <a:endParaRPr lang="en-US" sz="1600" dirty="0"/>
          </a:p>
        </p:txBody>
      </p:sp>
      <p:sp>
        <p:nvSpPr>
          <p:cNvPr id="20" name="Shape 18"/>
          <p:cNvSpPr/>
          <p:nvPr/>
        </p:nvSpPr>
        <p:spPr>
          <a:xfrm>
            <a:off x="0" y="5829300"/>
            <a:ext cx="12191695" cy="1028700"/>
          </a:xfrm>
          <a:prstGeom prst="rect">
            <a:avLst/>
          </a:prstGeom>
          <a:solidFill>
            <a:srgbClr val="6B2752"/>
          </a:solidFill>
          <a:ln/>
        </p:spPr>
      </p:sp>
      <p:sp>
        <p:nvSpPr>
          <p:cNvPr id="21" name="Shape 19"/>
          <p:cNvSpPr/>
          <p:nvPr/>
        </p:nvSpPr>
        <p:spPr>
          <a:xfrm>
            <a:off x="0" y="5829300"/>
            <a:ext cx="12191695" cy="25400"/>
          </a:xfrm>
          <a:prstGeom prst="rect">
            <a:avLst/>
          </a:prstGeom>
          <a:solidFill>
            <a:srgbClr val="FFB23E"/>
          </a:solidFill>
          <a:ln/>
        </p:spPr>
      </p:sp>
      <p:sp>
        <p:nvSpPr>
          <p:cNvPr id="22" name="Text 20"/>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23" name="Text 21"/>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The product differentiates by closing the loop between planned efficiency and real-world performance.</a:t>
            </a:r>
            <a:endParaRPr lang="en-US" sz="1600" dirty="0"/>
          </a:p>
        </p:txBody>
      </p:sp>
      <p:sp>
        <p:nvSpPr>
          <p:cNvPr id="24" name="Text 22"/>
          <p:cNvSpPr/>
          <p:nvPr/>
        </p:nvSpPr>
        <p:spPr>
          <a:xfrm>
            <a:off x="11752167" y="61714"/>
            <a:ext cx="439528"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03</a:t>
            </a:r>
            <a:endParaRPr lang="en-US" sz="1050" dirty="0"/>
          </a:p>
        </p:txBody>
      </p:sp>
      <p:sp>
        <p:nvSpPr>
          <p:cNvPr id="25" name="Shape 23"/>
          <p:cNvSpPr/>
          <p:nvPr/>
        </p:nvSpPr>
        <p:spPr>
          <a:xfrm>
            <a:off x="6089498" y="5043388"/>
            <a:ext cx="12700" cy="557312"/>
          </a:xfrm>
          <a:prstGeom prst="rect">
            <a:avLst/>
          </a:prstGeom>
          <a:solidFill>
            <a:srgbClr val="9A6A88"/>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THE TECHNOLOGY STACK</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03</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406390" y="1016635"/>
            <a:ext cx="11378915" cy="518120"/>
          </a:xfrm>
          <a:prstGeom prst="rect">
            <a:avLst/>
          </a:prstGeom>
          <a:noFill/>
          <a:ln/>
        </p:spPr>
        <p:txBody>
          <a:bodyPr wrap="none" lIns="0" tIns="0" rIns="0" bIns="0" rtlCol="0" anchor="t"/>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Technology turns fleet data into decisions</a:t>
            </a:r>
            <a:endParaRPr lang="en-US" sz="4000" dirty="0"/>
          </a:p>
        </p:txBody>
      </p:sp>
      <p:sp>
        <p:nvSpPr>
          <p:cNvPr id="6" name="Text 4"/>
          <p:cNvSpPr/>
          <p:nvPr/>
        </p:nvSpPr>
        <p:spPr>
          <a:xfrm>
            <a:off x="406390" y="1680170"/>
            <a:ext cx="11785305"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Each layer answers a different operational question, then feeds the next one.</a:t>
            </a:r>
            <a:endParaRPr lang="en-US" sz="1600" dirty="0"/>
          </a:p>
        </p:txBody>
      </p:sp>
      <p:pic>
        <p:nvPicPr>
          <p:cNvPr id="7" name="Image 0" descr="preencoded.png">    </p:cNvPr>
          <p:cNvPicPr>
            <a:picLocks noChangeAspect="1"/>
          </p:cNvPicPr>
          <p:nvPr/>
        </p:nvPicPr>
        <p:blipFill>
          <a:blip r:embed="rId1"/>
          <a:stretch>
            <a:fillRect/>
          </a:stretch>
        </p:blipFill>
        <p:spPr>
          <a:xfrm>
            <a:off x="406390" y="2108895"/>
            <a:ext cx="507987" cy="508000"/>
          </a:xfrm>
          <a:prstGeom prst="rect">
            <a:avLst/>
          </a:prstGeom>
        </p:spPr>
      </p:pic>
      <p:sp>
        <p:nvSpPr>
          <p:cNvPr id="8" name="Text 5"/>
          <p:cNvSpPr/>
          <p:nvPr/>
        </p:nvSpPr>
        <p:spPr>
          <a:xfrm>
            <a:off x="406390" y="2731195"/>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Fleet inputs</a:t>
            </a:r>
            <a:endParaRPr lang="en-US" sz="2100" dirty="0"/>
          </a:p>
        </p:txBody>
      </p:sp>
      <p:sp>
        <p:nvSpPr>
          <p:cNvPr id="9" name="Text 6"/>
          <p:cNvSpPr/>
          <p:nvPr/>
        </p:nvSpPr>
        <p:spPr>
          <a:xfrm>
            <a:off x="406390" y="3220740"/>
            <a:ext cx="5689458"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Vehicle telemetry for status, battery, cargo, and trip records.</a:t>
            </a:r>
            <a:endParaRPr lang="en-US" sz="1600" dirty="0"/>
          </a:p>
        </p:txBody>
      </p:sp>
      <p:sp>
        <p:nvSpPr>
          <p:cNvPr id="10" name="Text 7"/>
          <p:cNvSpPr/>
          <p:nvPr/>
        </p:nvSpPr>
        <p:spPr>
          <a:xfrm>
            <a:off x="6324442" y="2413695"/>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Routing context</a:t>
            </a:r>
            <a:endParaRPr lang="en-US" sz="2100" dirty="0"/>
          </a:p>
        </p:txBody>
      </p:sp>
      <p:sp>
        <p:nvSpPr>
          <p:cNvPr id="11" name="Text 8"/>
          <p:cNvSpPr/>
          <p:nvPr/>
        </p:nvSpPr>
        <p:spPr>
          <a:xfrm>
            <a:off x="6324442" y="2903240"/>
            <a:ext cx="5460863"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Map and routing services for stops, distance, traffic, and route visualization.</a:t>
            </a:r>
            <a:endParaRPr lang="en-US" sz="1600" dirty="0"/>
          </a:p>
        </p:txBody>
      </p:sp>
      <p:sp>
        <p:nvSpPr>
          <p:cNvPr id="12" name="Text 9"/>
          <p:cNvSpPr/>
          <p:nvPr/>
        </p:nvSpPr>
        <p:spPr>
          <a:xfrm>
            <a:off x="406390" y="4259064"/>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Decision analytics</a:t>
            </a:r>
            <a:endParaRPr lang="en-US" sz="2100" dirty="0"/>
          </a:p>
        </p:txBody>
      </p:sp>
      <p:sp>
        <p:nvSpPr>
          <p:cNvPr id="13" name="Text 10"/>
          <p:cNvSpPr/>
          <p:nvPr/>
        </p:nvSpPr>
        <p:spPr>
          <a:xfrm>
            <a:off x="406390" y="4748609"/>
            <a:ext cx="5460863"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Emissions, fuel avoidance, energy efficiency, and operational KPIs.</a:t>
            </a:r>
            <a:endParaRPr lang="en-US" sz="1600" dirty="0"/>
          </a:p>
        </p:txBody>
      </p:sp>
      <p:sp>
        <p:nvSpPr>
          <p:cNvPr id="14" name="Text 11"/>
          <p:cNvSpPr/>
          <p:nvPr/>
        </p:nvSpPr>
        <p:spPr>
          <a:xfrm>
            <a:off x="6324442" y="4259064"/>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Human interface</a:t>
            </a:r>
            <a:endParaRPr lang="en-US" sz="2100" dirty="0"/>
          </a:p>
        </p:txBody>
      </p:sp>
      <p:sp>
        <p:nvSpPr>
          <p:cNvPr id="15" name="Text 12"/>
          <p:cNvSpPr/>
          <p:nvPr/>
        </p:nvSpPr>
        <p:spPr>
          <a:xfrm>
            <a:off x="6324442" y="4748609"/>
            <a:ext cx="5460863"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Responsive dashboards for fleet managers and drivers.</a:t>
            </a:r>
            <a:endParaRPr lang="en-US" sz="1600" dirty="0"/>
          </a:p>
        </p:txBody>
      </p:sp>
      <p:sp>
        <p:nvSpPr>
          <p:cNvPr id="16" name="Text 13"/>
          <p:cNvSpPr/>
          <p:nvPr/>
        </p:nvSpPr>
        <p:spPr>
          <a:xfrm>
            <a:off x="406390" y="5617766"/>
            <a:ext cx="11785305"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DATA BECOMES USEFUL WHEN IT ARRIVES WITH CONTEXT, A CHOICE, AND A MEASURE OF CONSEQUENCE.</a:t>
            </a:r>
            <a:endParaRPr lang="en-US" sz="1050" dirty="0"/>
          </a:p>
        </p:txBody>
      </p:sp>
      <p:sp>
        <p:nvSpPr>
          <p:cNvPr id="17" name="Shape 14"/>
          <p:cNvSpPr/>
          <p:nvPr/>
        </p:nvSpPr>
        <p:spPr>
          <a:xfrm>
            <a:off x="0" y="5829300"/>
            <a:ext cx="12191695" cy="1028700"/>
          </a:xfrm>
          <a:prstGeom prst="rect">
            <a:avLst/>
          </a:prstGeom>
          <a:solidFill>
            <a:srgbClr val="6B2752"/>
          </a:solidFill>
          <a:ln/>
        </p:spPr>
      </p:sp>
      <p:sp>
        <p:nvSpPr>
          <p:cNvPr id="18" name="Shape 15"/>
          <p:cNvSpPr/>
          <p:nvPr/>
        </p:nvSpPr>
        <p:spPr>
          <a:xfrm>
            <a:off x="0" y="5829300"/>
            <a:ext cx="12191695" cy="25400"/>
          </a:xfrm>
          <a:prstGeom prst="rect">
            <a:avLst/>
          </a:prstGeom>
          <a:solidFill>
            <a:srgbClr val="FFB23E"/>
          </a:solidFill>
          <a:ln/>
        </p:spPr>
      </p:sp>
      <p:sp>
        <p:nvSpPr>
          <p:cNvPr id="19" name="Text 16"/>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20" name="Text 17"/>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The stack is valuable because it translates operational telemetry into a decision a person can act on.</a:t>
            </a:r>
            <a:endParaRPr lang="en-US" sz="1600" dirty="0"/>
          </a:p>
        </p:txBody>
      </p:sp>
      <p:sp>
        <p:nvSpPr>
          <p:cNvPr id="21" name="Text 18"/>
          <p:cNvSpPr/>
          <p:nvPr/>
        </p:nvSpPr>
        <p:spPr>
          <a:xfrm>
            <a:off x="11742345" y="61714"/>
            <a:ext cx="449350"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04</a:t>
            </a:r>
            <a:endParaRPr lang="en-US" sz="1050" dirty="0"/>
          </a:p>
        </p:txBody>
      </p:sp>
      <p:sp>
        <p:nvSpPr>
          <p:cNvPr id="22" name="Shape 19"/>
          <p:cNvSpPr/>
          <p:nvPr/>
        </p:nvSpPr>
        <p:spPr>
          <a:xfrm>
            <a:off x="6089498" y="2108895"/>
            <a:ext cx="12700" cy="1616770"/>
          </a:xfrm>
          <a:prstGeom prst="rect">
            <a:avLst/>
          </a:prstGeom>
          <a:solidFill>
            <a:srgbClr val="9A6A88"/>
          </a:solidFill>
          <a:ln/>
        </p:spPr>
      </p:sp>
      <p:sp>
        <p:nvSpPr>
          <p:cNvPr id="23" name="Shape 20"/>
          <p:cNvSpPr/>
          <p:nvPr/>
        </p:nvSpPr>
        <p:spPr>
          <a:xfrm>
            <a:off x="406390" y="3719314"/>
            <a:ext cx="5689458" cy="12700"/>
          </a:xfrm>
          <a:prstGeom prst="rect">
            <a:avLst/>
          </a:prstGeom>
          <a:solidFill>
            <a:srgbClr val="9A6A88"/>
          </a:solidFill>
          <a:ln/>
        </p:spPr>
      </p:sp>
      <p:sp>
        <p:nvSpPr>
          <p:cNvPr id="24" name="Shape 21"/>
          <p:cNvSpPr/>
          <p:nvPr/>
        </p:nvSpPr>
        <p:spPr>
          <a:xfrm>
            <a:off x="6089498" y="3725664"/>
            <a:ext cx="12700" cy="1616770"/>
          </a:xfrm>
          <a:prstGeom prst="rect">
            <a:avLst/>
          </a:prstGeom>
          <a:solidFill>
            <a:srgbClr val="9A6A88"/>
          </a:solidFill>
          <a:ln/>
        </p:spPr>
      </p:sp>
      <p:sp>
        <p:nvSpPr>
          <p:cNvPr id="25" name="Shape 22"/>
          <p:cNvSpPr/>
          <p:nvPr/>
        </p:nvSpPr>
        <p:spPr>
          <a:xfrm>
            <a:off x="6095848" y="3719314"/>
            <a:ext cx="5689458" cy="12700"/>
          </a:xfrm>
          <a:prstGeom prst="rect">
            <a:avLst/>
          </a:prstGeom>
          <a:solidFill>
            <a:srgbClr val="9A6A88"/>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PROTOTYPE WORKFLOW</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04</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711182" y="1423035"/>
            <a:ext cx="5850287" cy="1554361"/>
          </a:xfrm>
          <a:prstGeom prst="rect">
            <a:avLst/>
          </a:prstGeom>
          <a:noFill/>
          <a:ln/>
        </p:spPr>
        <p:txBody>
          <a:bodyPr wrap="square" lIns="0" tIns="0" rIns="0" bIns="0" rtlCol="0" anchor="t">
            <a:normAutofit/>
          </a:bodyPr>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Prototype development begins with a manager workflow</a:t>
            </a:r>
            <a:endParaRPr lang="en-US" sz="4000" dirty="0"/>
          </a:p>
        </p:txBody>
      </p:sp>
      <p:sp>
        <p:nvSpPr>
          <p:cNvPr id="6" name="Text 4"/>
          <p:cNvSpPr/>
          <p:nvPr/>
        </p:nvSpPr>
        <p:spPr>
          <a:xfrm>
            <a:off x="711182" y="3122811"/>
            <a:ext cx="5850287"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The first journey is deliberately practical: move from sign-in to a dispatch decision.</a:t>
            </a:r>
            <a:endParaRPr lang="en-US" sz="1600" dirty="0"/>
          </a:p>
        </p:txBody>
      </p:sp>
      <p:sp>
        <p:nvSpPr>
          <p:cNvPr id="7" name="Text 5"/>
          <p:cNvSpPr/>
          <p:nvPr/>
        </p:nvSpPr>
        <p:spPr>
          <a:xfrm>
            <a:off x="711182" y="3853259"/>
            <a:ext cx="5850287" cy="1257697"/>
          </a:xfrm>
          <a:prstGeom prst="rect">
            <a:avLst/>
          </a:prstGeom>
          <a:noFill/>
          <a:ln/>
        </p:spPr>
        <p:txBody>
          <a:bodyPr wrap="square" lIns="0" tIns="0" rIns="0" bIns="0" rtlCol="0" anchor="t">
            <a:normAutofit/>
          </a:bodyPr>
          <a:lstStyle/>
          <a:p>
            <a:pPr algn="l" marL="325120" indent="-325120">
              <a:lnSpc>
                <a:spcPct val="113000"/>
              </a:lnSpc>
              <a:buSzPct val="100000"/>
              <a:buFont typeface="+mj-lt"/>
              <a:buAutoNum type="arabicPeriod" startAt="1"/>
            </a:pPr>
            <a:r>
              <a:rPr lang="en-US" sz="1600" dirty="0">
                <a:solidFill>
                  <a:srgbClr val="F7E9EF"/>
                </a:solidFill>
                <a:latin typeface="Hind" pitchFamily="34" charset="0"/>
                <a:ea typeface="Hind" pitchFamily="34" charset="-122"/>
                <a:cs typeface="Hind" pitchFamily="34" charset="-120"/>
              </a:rPr>
              <a:t>Sign in to a role-based fleet workspace.</a:t>
            </a:r>
            <a:endParaRPr lang="en-US" sz="1600" dirty="0"/>
          </a:p>
          <a:p>
            <a:pPr algn="l" marL="325120" indent="-325120">
              <a:lnSpc>
                <a:spcPct val="113000"/>
              </a:lnSpc>
              <a:buSzPct val="100000"/>
              <a:buFont typeface="+mj-lt"/>
              <a:buAutoNum type="arabicPeriod" startAt="2"/>
            </a:pPr>
            <a:r>
              <a:rPr lang="en-US" sz="1600" dirty="0">
                <a:solidFill>
                  <a:srgbClr val="F7E9EF"/>
                </a:solidFill>
                <a:latin typeface="Hind" pitchFamily="34" charset="0"/>
                <a:ea typeface="Hind" pitchFamily="34" charset="-122"/>
                <a:cs typeface="Hind" pitchFamily="34" charset="-120"/>
              </a:rPr>
              <a:t>Review the fleet and select a vehicle or route.</a:t>
            </a:r>
            <a:endParaRPr lang="en-US" sz="1600" dirty="0"/>
          </a:p>
          <a:p>
            <a:pPr algn="l" marL="325120" indent="-325120">
              <a:lnSpc>
                <a:spcPct val="113000"/>
              </a:lnSpc>
              <a:buSzPct val="100000"/>
              <a:buFont typeface="+mj-lt"/>
              <a:buAutoNum type="arabicPeriod" startAt="3"/>
            </a:pPr>
            <a:r>
              <a:rPr lang="en-US" sz="1600" dirty="0">
                <a:solidFill>
                  <a:srgbClr val="F7E9EF"/>
                </a:solidFill>
                <a:latin typeface="Hind" pitchFamily="34" charset="0"/>
                <a:ea typeface="Hind" pitchFamily="34" charset="-122"/>
                <a:cs typeface="Hind" pitchFamily="34" charset="-120"/>
              </a:rPr>
              <a:t>Adjust optimization inputs and simulate the trip.</a:t>
            </a:r>
            <a:endParaRPr lang="en-US" sz="1600" dirty="0"/>
          </a:p>
          <a:p>
            <a:pPr algn="l" marL="325120" indent="-325120">
              <a:lnSpc>
                <a:spcPct val="113000"/>
              </a:lnSpc>
              <a:buSzPct val="100000"/>
              <a:buFont typeface="+mj-lt"/>
              <a:buAutoNum type="arabicPeriod" startAt="4"/>
            </a:pPr>
            <a:r>
              <a:rPr lang="en-US" sz="1600" dirty="0">
                <a:solidFill>
                  <a:srgbClr val="F7E9EF"/>
                </a:solidFill>
                <a:latin typeface="Hind" pitchFamily="34" charset="0"/>
                <a:ea typeface="Hind" pitchFamily="34" charset="-122"/>
                <a:cs typeface="Hind" pitchFamily="34" charset="-120"/>
              </a:rPr>
              <a:t>Compare operational and carbon outcomes before dispatch.</a:t>
            </a:r>
            <a:endParaRPr lang="en-US" sz="1600" dirty="0"/>
          </a:p>
        </p:txBody>
      </p:sp>
      <p:sp>
        <p:nvSpPr>
          <p:cNvPr id="8" name="Shape 6"/>
          <p:cNvSpPr/>
          <p:nvPr/>
        </p:nvSpPr>
        <p:spPr>
          <a:xfrm>
            <a:off x="7171054" y="1066800"/>
            <a:ext cx="4614251" cy="4533900"/>
          </a:xfrm>
          <a:prstGeom prst="rect">
            <a:avLst/>
          </a:prstGeom>
          <a:solidFill>
            <a:srgbClr val="61284C"/>
          </a:solidFill>
          <a:ln/>
        </p:spPr>
      </p:sp>
      <p:pic>
        <p:nvPicPr>
          <p:cNvPr id="9" name="Image 0" descr="preencoded.png">    </p:cNvPr>
          <p:cNvPicPr>
            <a:picLocks noChangeAspect="1"/>
          </p:cNvPicPr>
          <p:nvPr/>
        </p:nvPicPr>
        <p:blipFill>
          <a:blip r:embed="rId1"/>
          <a:stretch>
            <a:fillRect/>
          </a:stretch>
        </p:blipFill>
        <p:spPr>
          <a:xfrm>
            <a:off x="7374249" y="1270000"/>
            <a:ext cx="4063898" cy="2540000"/>
          </a:xfrm>
          <a:prstGeom prst="rect">
            <a:avLst/>
          </a:prstGeom>
        </p:spPr>
      </p:pic>
      <p:sp>
        <p:nvSpPr>
          <p:cNvPr id="10" name="Text 7"/>
          <p:cNvSpPr/>
          <p:nvPr/>
        </p:nvSpPr>
        <p:spPr>
          <a:xfrm>
            <a:off x="7374249" y="3895328"/>
            <a:ext cx="4411056"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F7E9EF"/>
                </a:solidFill>
                <a:latin typeface="JetBrains Mono Medium" pitchFamily="34" charset="0"/>
                <a:ea typeface="JetBrains Mono Medium" pitchFamily="34" charset="-122"/>
                <a:cs typeface="JetBrains Mono Medium" pitchFamily="34" charset="-120"/>
              </a:rPr>
              <a:t>PROTOTYPE · ROLE-BASED FLEET WORKSPACE</a:t>
            </a:r>
            <a:endParaRPr lang="en-US" sz="1050" dirty="0"/>
          </a:p>
        </p:txBody>
      </p:sp>
      <p:sp>
        <p:nvSpPr>
          <p:cNvPr id="11" name="Shape 8"/>
          <p:cNvSpPr/>
          <p:nvPr/>
        </p:nvSpPr>
        <p:spPr>
          <a:xfrm>
            <a:off x="0" y="5829300"/>
            <a:ext cx="12191695" cy="1028700"/>
          </a:xfrm>
          <a:prstGeom prst="rect">
            <a:avLst/>
          </a:prstGeom>
          <a:solidFill>
            <a:srgbClr val="6B2752"/>
          </a:solidFill>
          <a:ln/>
        </p:spPr>
      </p:sp>
      <p:sp>
        <p:nvSpPr>
          <p:cNvPr id="12" name="Shape 9"/>
          <p:cNvSpPr/>
          <p:nvPr/>
        </p:nvSpPr>
        <p:spPr>
          <a:xfrm>
            <a:off x="0" y="5829300"/>
            <a:ext cx="12191695" cy="25400"/>
          </a:xfrm>
          <a:prstGeom prst="rect">
            <a:avLst/>
          </a:prstGeom>
          <a:solidFill>
            <a:srgbClr val="FFB23E"/>
          </a:solidFill>
          <a:ln/>
        </p:spPr>
      </p:sp>
      <p:sp>
        <p:nvSpPr>
          <p:cNvPr id="13" name="Text 10"/>
          <p:cNvSpPr/>
          <p:nvPr/>
        </p:nvSpPr>
        <p:spPr>
          <a:xfrm>
            <a:off x="406390" y="6246713"/>
            <a:ext cx="1845621"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14" name="Text 11"/>
          <p:cNvSpPr/>
          <p:nvPr/>
        </p:nvSpPr>
        <p:spPr>
          <a:xfrm>
            <a:off x="2556803" y="6218138"/>
            <a:ext cx="9228502"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Design around the manager's decision, not around a collection of disconnected screens.</a:t>
            </a:r>
            <a:endParaRPr lang="en-US" sz="1600" dirty="0"/>
          </a:p>
        </p:txBody>
      </p:sp>
      <p:sp>
        <p:nvSpPr>
          <p:cNvPr id="15" name="Text 12"/>
          <p:cNvSpPr/>
          <p:nvPr/>
        </p:nvSpPr>
        <p:spPr>
          <a:xfrm>
            <a:off x="11746412" y="61714"/>
            <a:ext cx="445283"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06390" y="338461"/>
            <a:ext cx="7585877" cy="138410"/>
          </a:xfrm>
          <a:prstGeom prst="rect">
            <a:avLst/>
          </a:prstGeom>
          <a:noFill/>
          <a:ln/>
        </p:spPr>
        <p:txBody>
          <a:bodyPr wrap="none" lIns="0" tIns="0" rIns="0" bIns="0" rtlCol="0" anchor="t"/>
          <a:lstStyle/>
          <a:p>
            <a:pPr algn="l" indent="0" marL="0">
              <a:lnSpc>
                <a:spcPct val="104000"/>
              </a:lnSpc>
              <a:buNone/>
            </a:pPr>
            <a:r>
              <a:rPr lang="en-US" sz="850" spc="70" kern="100" dirty="0">
                <a:solidFill>
                  <a:srgbClr val="4FD1D9"/>
                </a:solidFill>
                <a:latin typeface="JetBrains Mono SemiBold" pitchFamily="34" charset="0"/>
                <a:ea typeface="JetBrains Mono SemiBold" pitchFamily="34" charset="-122"/>
                <a:cs typeface="JetBrains Mono SemiBold" pitchFamily="34" charset="-120"/>
              </a:rPr>
              <a:t>WORKING FUNCTIONALITY</a:t>
            </a:r>
            <a:endParaRPr lang="en-US" sz="850" dirty="0"/>
          </a:p>
        </p:txBody>
      </p:sp>
      <p:sp>
        <p:nvSpPr>
          <p:cNvPr id="3" name="Text 1"/>
          <p:cNvSpPr/>
          <p:nvPr/>
        </p:nvSpPr>
        <p:spPr>
          <a:xfrm>
            <a:off x="7992267" y="335271"/>
            <a:ext cx="3792939" cy="132060"/>
          </a:xfrm>
          <a:prstGeom prst="rect">
            <a:avLst/>
          </a:prstGeom>
          <a:noFill/>
          <a:ln/>
        </p:spPr>
        <p:txBody>
          <a:bodyPr wrap="none" lIns="0" tIns="0" rIns="0" bIns="0" rtlCol="0" anchor="t"/>
          <a:lstStyle/>
          <a:p>
            <a:pPr algn="r" indent="0" marL="0">
              <a:lnSpc>
                <a:spcPct val="104000"/>
              </a:lnSpc>
              <a:buNone/>
            </a:pPr>
            <a:r>
              <a:rPr lang="en-US" sz="850" spc="8" kern="100" dirty="0">
                <a:solidFill>
                  <a:srgbClr val="D9BFCE"/>
                </a:solidFill>
                <a:latin typeface="JetBrains Mono Medium" pitchFamily="34" charset="0"/>
                <a:ea typeface="JetBrains Mono Medium" pitchFamily="34" charset="-122"/>
                <a:cs typeface="JetBrains Mono Medium" pitchFamily="34" charset="-120"/>
              </a:rPr>
              <a:t>EXHIBIT 05</a:t>
            </a:r>
            <a:endParaRPr lang="en-US" sz="850" dirty="0"/>
          </a:p>
        </p:txBody>
      </p:sp>
      <p:sp>
        <p:nvSpPr>
          <p:cNvPr id="4" name="Shape 2"/>
          <p:cNvSpPr/>
          <p:nvPr/>
        </p:nvSpPr>
        <p:spPr>
          <a:xfrm>
            <a:off x="406390" y="620415"/>
            <a:ext cx="11378915" cy="19050"/>
          </a:xfrm>
          <a:prstGeom prst="roundRect">
            <a:avLst>
              <a:gd name="adj" fmla="val 49999"/>
            </a:avLst>
          </a:prstGeom>
          <a:solidFill>
            <a:srgbClr val="9A6A88"/>
          </a:solidFill>
          <a:ln/>
        </p:spPr>
      </p:sp>
      <p:sp>
        <p:nvSpPr>
          <p:cNvPr id="5" name="Shape 3"/>
          <p:cNvSpPr/>
          <p:nvPr/>
        </p:nvSpPr>
        <p:spPr>
          <a:xfrm>
            <a:off x="406390" y="832048"/>
            <a:ext cx="4550653" cy="5259288"/>
          </a:xfrm>
          <a:prstGeom prst="rect">
            <a:avLst/>
          </a:prstGeom>
          <a:solidFill>
            <a:srgbClr val="61284C"/>
          </a:solidFill>
          <a:ln/>
        </p:spPr>
      </p:sp>
      <p:pic>
        <p:nvPicPr>
          <p:cNvPr id="6" name="Image 0" descr="preencoded.png">    </p:cNvPr>
          <p:cNvPicPr>
            <a:picLocks noChangeAspect="1"/>
          </p:cNvPicPr>
          <p:nvPr/>
        </p:nvPicPr>
        <p:blipFill>
          <a:blip r:embed="rId1"/>
          <a:stretch>
            <a:fillRect/>
          </a:stretch>
        </p:blipFill>
        <p:spPr>
          <a:xfrm>
            <a:off x="609585" y="1035248"/>
            <a:ext cx="4063898" cy="2039441"/>
          </a:xfrm>
          <a:prstGeom prst="rect">
            <a:avLst/>
          </a:prstGeom>
        </p:spPr>
      </p:pic>
      <p:sp>
        <p:nvSpPr>
          <p:cNvPr id="7" name="Text 4"/>
          <p:cNvSpPr/>
          <p:nvPr/>
        </p:nvSpPr>
        <p:spPr>
          <a:xfrm>
            <a:off x="609585" y="3129569"/>
            <a:ext cx="4347458" cy="132060"/>
          </a:xfrm>
          <a:prstGeom prst="rect">
            <a:avLst/>
          </a:prstGeom>
          <a:noFill/>
          <a:ln/>
        </p:spPr>
        <p:txBody>
          <a:bodyPr wrap="none" lIns="0" tIns="0" rIns="0" bIns="0" rtlCol="0" anchor="t"/>
          <a:lstStyle/>
          <a:p>
            <a:pPr algn="l" indent="0" marL="0">
              <a:lnSpc>
                <a:spcPct val="104000"/>
              </a:lnSpc>
              <a:buNone/>
            </a:pPr>
            <a:r>
              <a:rPr lang="en-US" sz="850" spc="8" kern="100" dirty="0">
                <a:solidFill>
                  <a:srgbClr val="F7E9EF"/>
                </a:solidFill>
                <a:latin typeface="JetBrains Mono Medium" pitchFamily="34" charset="0"/>
                <a:ea typeface="JetBrains Mono Medium" pitchFamily="34" charset="-122"/>
                <a:cs typeface="JetBrains Mono Medium" pitchFamily="34" charset="-120"/>
              </a:rPr>
              <a:t>PROTOTYPE · LIVE FLEET MONITORING</a:t>
            </a:r>
            <a:endParaRPr lang="en-US" sz="850" dirty="0"/>
          </a:p>
        </p:txBody>
      </p:sp>
      <p:sp>
        <p:nvSpPr>
          <p:cNvPr id="8" name="Text 5"/>
          <p:cNvSpPr/>
          <p:nvPr/>
        </p:nvSpPr>
        <p:spPr>
          <a:xfrm>
            <a:off x="5719024" y="1172289"/>
            <a:ext cx="5761489" cy="821333"/>
          </a:xfrm>
          <a:prstGeom prst="rect">
            <a:avLst/>
          </a:prstGeom>
          <a:noFill/>
          <a:ln/>
        </p:spPr>
        <p:txBody>
          <a:bodyPr wrap="square" lIns="0" tIns="0" rIns="0" bIns="0" rtlCol="0" anchor="t">
            <a:normAutofit/>
          </a:bodyPr>
          <a:lstStyle/>
          <a:p>
            <a:pPr algn="l" indent="0" marL="0">
              <a:lnSpc>
                <a:spcPct val="85000"/>
              </a:lnSpc>
              <a:buNone/>
            </a:pPr>
            <a:r>
              <a:rPr lang="en-US" sz="3150" dirty="0">
                <a:solidFill>
                  <a:srgbClr val="FFF1E4"/>
                </a:solidFill>
                <a:latin typeface="Saira Semi Condensed ExtraBold" pitchFamily="34" charset="0"/>
                <a:ea typeface="Saira Semi Condensed ExtraBold" pitchFamily="34" charset="-122"/>
                <a:cs typeface="Saira Semi Condensed ExtraBold" pitchFamily="34" charset="-120"/>
              </a:rPr>
              <a:t>Working functionality: monitor the fleet in real time</a:t>
            </a:r>
            <a:endParaRPr lang="en-US" sz="3150" dirty="0"/>
          </a:p>
        </p:txBody>
      </p:sp>
      <p:sp>
        <p:nvSpPr>
          <p:cNvPr id="9" name="Text 6"/>
          <p:cNvSpPr/>
          <p:nvPr/>
        </p:nvSpPr>
        <p:spPr>
          <a:xfrm>
            <a:off x="5719024" y="2081808"/>
            <a:ext cx="5761489" cy="392509"/>
          </a:xfrm>
          <a:prstGeom prst="rect">
            <a:avLst/>
          </a:prstGeom>
          <a:noFill/>
          <a:ln/>
        </p:spPr>
        <p:txBody>
          <a:bodyPr wrap="square" lIns="0" tIns="0" rIns="0" bIns="0" rtlCol="0" anchor="t">
            <a:normAutofit/>
          </a:bodyPr>
          <a:lstStyle/>
          <a:p>
            <a:pPr algn="l" indent="0" marL="0">
              <a:lnSpc>
                <a:spcPct val="102000"/>
              </a:lnSpc>
              <a:buNone/>
            </a:pPr>
            <a:r>
              <a:rPr lang="en-US" sz="1250" dirty="0">
                <a:solidFill>
                  <a:srgbClr val="F7E9EF"/>
                </a:solidFill>
                <a:latin typeface="Hind" pitchFamily="34" charset="0"/>
                <a:ea typeface="Hind" pitchFamily="34" charset="-122"/>
                <a:cs typeface="Hind" pitchFamily="34" charset="-120"/>
              </a:rPr>
              <a:t>The prototype brings fleet activity, route context, and carbon outcomes into one operating view.</a:t>
            </a:r>
            <a:endParaRPr lang="en-US" sz="1250" dirty="0"/>
          </a:p>
        </p:txBody>
      </p:sp>
      <p:sp>
        <p:nvSpPr>
          <p:cNvPr id="10" name="Text 7"/>
          <p:cNvSpPr/>
          <p:nvPr/>
        </p:nvSpPr>
        <p:spPr>
          <a:xfrm>
            <a:off x="5719024" y="2753717"/>
            <a:ext cx="5761489" cy="274737"/>
          </a:xfrm>
          <a:prstGeom prst="rect">
            <a:avLst/>
          </a:prstGeom>
          <a:noFill/>
          <a:ln/>
        </p:spPr>
        <p:txBody>
          <a:bodyPr wrap="none" lIns="0" tIns="0" rIns="0" bIns="0" rtlCol="0" anchor="t"/>
          <a:lstStyle/>
          <a:p>
            <a:pPr algn="l" indent="0" marL="0">
              <a:lnSpc>
                <a:spcPct val="108000"/>
              </a:lnSpc>
              <a:buNone/>
            </a:pPr>
            <a:r>
              <a:rPr lang="en-US" sz="1650" dirty="0">
                <a:solidFill>
                  <a:srgbClr val="FFF1E4"/>
                </a:solidFill>
                <a:latin typeface="Hind" pitchFamily="34" charset="0"/>
                <a:ea typeface="Hind" pitchFamily="34" charset="-122"/>
                <a:cs typeface="Hind" pitchFamily="34" charset="-120"/>
              </a:rPr>
              <a:t>Fleet cards</a:t>
            </a:r>
            <a:endParaRPr lang="en-US" sz="1650" dirty="0"/>
          </a:p>
        </p:txBody>
      </p:sp>
      <p:sp>
        <p:nvSpPr>
          <p:cNvPr id="11" name="Text 8"/>
          <p:cNvSpPr/>
          <p:nvPr/>
        </p:nvSpPr>
        <p:spPr>
          <a:xfrm>
            <a:off x="5719024" y="3118148"/>
            <a:ext cx="5761489" cy="392509"/>
          </a:xfrm>
          <a:prstGeom prst="rect">
            <a:avLst/>
          </a:prstGeom>
          <a:noFill/>
          <a:ln/>
        </p:spPr>
        <p:txBody>
          <a:bodyPr wrap="square" lIns="0" tIns="0" rIns="0" bIns="0" rtlCol="0" anchor="t">
            <a:normAutofit/>
          </a:bodyPr>
          <a:lstStyle/>
          <a:p>
            <a:pPr algn="l" indent="0" marL="0">
              <a:lnSpc>
                <a:spcPct val="102000"/>
              </a:lnSpc>
              <a:buNone/>
            </a:pPr>
            <a:r>
              <a:rPr lang="en-US" sz="1250" dirty="0">
                <a:solidFill>
                  <a:srgbClr val="F7E9EF"/>
                </a:solidFill>
                <a:latin typeface="Hind" pitchFamily="34" charset="0"/>
                <a:ea typeface="Hind" pitchFamily="34" charset="-122"/>
                <a:cs typeface="Hind" pitchFamily="34" charset="-120"/>
              </a:rPr>
              <a:t>Vehicle activity, battery state, cargo utilization, and route distance are visible together.</a:t>
            </a:r>
            <a:endParaRPr lang="en-US" sz="1250" dirty="0"/>
          </a:p>
        </p:txBody>
      </p:sp>
      <p:sp>
        <p:nvSpPr>
          <p:cNvPr id="12" name="Text 9"/>
          <p:cNvSpPr/>
          <p:nvPr/>
        </p:nvSpPr>
        <p:spPr>
          <a:xfrm>
            <a:off x="5719024" y="3815457"/>
            <a:ext cx="5761489" cy="274737"/>
          </a:xfrm>
          <a:prstGeom prst="rect">
            <a:avLst/>
          </a:prstGeom>
          <a:noFill/>
          <a:ln/>
        </p:spPr>
        <p:txBody>
          <a:bodyPr wrap="none" lIns="0" tIns="0" rIns="0" bIns="0" rtlCol="0" anchor="t"/>
          <a:lstStyle/>
          <a:p>
            <a:pPr algn="l" indent="0" marL="0">
              <a:lnSpc>
                <a:spcPct val="108000"/>
              </a:lnSpc>
              <a:buNone/>
            </a:pPr>
            <a:r>
              <a:rPr lang="en-US" sz="1650" dirty="0">
                <a:solidFill>
                  <a:srgbClr val="FFF1E4"/>
                </a:solidFill>
                <a:latin typeface="Hind" pitchFamily="34" charset="0"/>
                <a:ea typeface="Hind" pitchFamily="34" charset="-122"/>
                <a:cs typeface="Hind" pitchFamily="34" charset="-120"/>
              </a:rPr>
              <a:t>Carbon analytics</a:t>
            </a:r>
            <a:endParaRPr lang="en-US" sz="1650" dirty="0"/>
          </a:p>
        </p:txBody>
      </p:sp>
      <p:sp>
        <p:nvSpPr>
          <p:cNvPr id="13" name="Text 10"/>
          <p:cNvSpPr/>
          <p:nvPr/>
        </p:nvSpPr>
        <p:spPr>
          <a:xfrm>
            <a:off x="5719024" y="4179888"/>
            <a:ext cx="5761489" cy="196255"/>
          </a:xfrm>
          <a:prstGeom prst="rect">
            <a:avLst/>
          </a:prstGeom>
          <a:noFill/>
          <a:ln/>
        </p:spPr>
        <p:txBody>
          <a:bodyPr wrap="none" lIns="0" tIns="0" rIns="0" bIns="0" rtlCol="0" anchor="t"/>
          <a:lstStyle/>
          <a:p>
            <a:pPr algn="l" indent="0" marL="0">
              <a:lnSpc>
                <a:spcPct val="102000"/>
              </a:lnSpc>
              <a:buNone/>
            </a:pPr>
            <a:r>
              <a:rPr lang="en-US" sz="1250" dirty="0">
                <a:solidFill>
                  <a:srgbClr val="F7E9EF"/>
                </a:solidFill>
                <a:latin typeface="Hind" pitchFamily="34" charset="0"/>
                <a:ea typeface="Hind" pitchFamily="34" charset="-122"/>
                <a:cs typeface="Hind" pitchFamily="34" charset="-120"/>
              </a:rPr>
              <a:t>Baseline and eco-route outcomes can be compared by vehicle.</a:t>
            </a:r>
            <a:endParaRPr lang="en-US" sz="1250" dirty="0"/>
          </a:p>
        </p:txBody>
      </p:sp>
      <p:sp>
        <p:nvSpPr>
          <p:cNvPr id="14" name="Text 11"/>
          <p:cNvSpPr/>
          <p:nvPr/>
        </p:nvSpPr>
        <p:spPr>
          <a:xfrm>
            <a:off x="5719024" y="4877197"/>
            <a:ext cx="5761489" cy="274737"/>
          </a:xfrm>
          <a:prstGeom prst="rect">
            <a:avLst/>
          </a:prstGeom>
          <a:noFill/>
          <a:ln/>
        </p:spPr>
        <p:txBody>
          <a:bodyPr wrap="none" lIns="0" tIns="0" rIns="0" bIns="0" rtlCol="0" anchor="t"/>
          <a:lstStyle/>
          <a:p>
            <a:pPr algn="l" indent="0" marL="0">
              <a:lnSpc>
                <a:spcPct val="108000"/>
              </a:lnSpc>
              <a:buNone/>
            </a:pPr>
            <a:r>
              <a:rPr lang="en-US" sz="1650" dirty="0">
                <a:solidFill>
                  <a:srgbClr val="FFF1E4"/>
                </a:solidFill>
                <a:latin typeface="Hind" pitchFamily="34" charset="0"/>
                <a:ea typeface="Hind" pitchFamily="34" charset="-122"/>
                <a:cs typeface="Hind" pitchFamily="34" charset="-120"/>
              </a:rPr>
              <a:t>Trip simulation</a:t>
            </a:r>
            <a:endParaRPr lang="en-US" sz="1650" dirty="0"/>
          </a:p>
        </p:txBody>
      </p:sp>
      <p:sp>
        <p:nvSpPr>
          <p:cNvPr id="15" name="Text 12"/>
          <p:cNvSpPr/>
          <p:nvPr/>
        </p:nvSpPr>
        <p:spPr>
          <a:xfrm>
            <a:off x="5719024" y="5241627"/>
            <a:ext cx="5761489" cy="196255"/>
          </a:xfrm>
          <a:prstGeom prst="rect">
            <a:avLst/>
          </a:prstGeom>
          <a:noFill/>
          <a:ln/>
        </p:spPr>
        <p:txBody>
          <a:bodyPr wrap="none" lIns="0" tIns="0" rIns="0" bIns="0" rtlCol="0" anchor="t"/>
          <a:lstStyle/>
          <a:p>
            <a:pPr algn="l" indent="0" marL="0">
              <a:lnSpc>
                <a:spcPct val="102000"/>
              </a:lnSpc>
              <a:buNone/>
            </a:pPr>
            <a:r>
              <a:rPr lang="en-US" sz="1250" dirty="0">
                <a:solidFill>
                  <a:srgbClr val="F7E9EF"/>
                </a:solidFill>
                <a:latin typeface="Hind" pitchFamily="34" charset="0"/>
                <a:ea typeface="Hind" pitchFamily="34" charset="-122"/>
                <a:cs typeface="Hind" pitchFamily="34" charset="-120"/>
              </a:rPr>
              <a:t>Operators can test decisions before dispatch rather than learn only after the trip.</a:t>
            </a:r>
            <a:endParaRPr lang="en-US" sz="1250" dirty="0"/>
          </a:p>
        </p:txBody>
      </p:sp>
      <p:sp>
        <p:nvSpPr>
          <p:cNvPr id="16" name="Shape 13"/>
          <p:cNvSpPr/>
          <p:nvPr/>
        </p:nvSpPr>
        <p:spPr>
          <a:xfrm>
            <a:off x="0" y="6319937"/>
            <a:ext cx="12191695" cy="541536"/>
          </a:xfrm>
          <a:prstGeom prst="rect">
            <a:avLst/>
          </a:prstGeom>
          <a:solidFill>
            <a:srgbClr val="6B2752"/>
          </a:solidFill>
          <a:ln/>
        </p:spPr>
      </p:sp>
      <p:sp>
        <p:nvSpPr>
          <p:cNvPr id="17" name="Shape 14"/>
          <p:cNvSpPr/>
          <p:nvPr/>
        </p:nvSpPr>
        <p:spPr>
          <a:xfrm>
            <a:off x="0" y="6319937"/>
            <a:ext cx="12191695" cy="25400"/>
          </a:xfrm>
          <a:prstGeom prst="rect">
            <a:avLst/>
          </a:prstGeom>
          <a:solidFill>
            <a:srgbClr val="FFB23E"/>
          </a:solidFill>
          <a:ln/>
        </p:spPr>
      </p:sp>
      <p:sp>
        <p:nvSpPr>
          <p:cNvPr id="18" name="Text 15"/>
          <p:cNvSpPr/>
          <p:nvPr/>
        </p:nvSpPr>
        <p:spPr>
          <a:xfrm>
            <a:off x="406390" y="6516329"/>
            <a:ext cx="1896420" cy="211336"/>
          </a:xfrm>
          <a:prstGeom prst="rect">
            <a:avLst/>
          </a:prstGeom>
          <a:noFill/>
          <a:ln/>
        </p:spPr>
        <p:txBody>
          <a:bodyPr wrap="none" lIns="0" tIns="0" rIns="0" bIns="0" rtlCol="0" anchor="t"/>
          <a:lstStyle/>
          <a:p>
            <a:pPr algn="l" indent="0" marL="0">
              <a:lnSpc>
                <a:spcPct val="83000"/>
              </a:lnSpc>
              <a:buNone/>
            </a:pPr>
            <a:r>
              <a:rPr lang="en-US" sz="1650" b="1" spc="100"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1650" dirty="0"/>
          </a:p>
        </p:txBody>
      </p:sp>
      <p:sp>
        <p:nvSpPr>
          <p:cNvPr id="19" name="Text 16"/>
          <p:cNvSpPr/>
          <p:nvPr/>
        </p:nvSpPr>
        <p:spPr>
          <a:xfrm>
            <a:off x="2302810" y="6497737"/>
            <a:ext cx="9482496" cy="196255"/>
          </a:xfrm>
          <a:prstGeom prst="rect">
            <a:avLst/>
          </a:prstGeom>
          <a:noFill/>
          <a:ln/>
        </p:spPr>
        <p:txBody>
          <a:bodyPr wrap="none" lIns="0" tIns="0" rIns="0" bIns="0" rtlCol="0" anchor="t"/>
          <a:lstStyle/>
          <a:p>
            <a:pPr algn="l" indent="0" marL="0">
              <a:lnSpc>
                <a:spcPct val="102000"/>
              </a:lnSpc>
              <a:buNone/>
            </a:pPr>
            <a:r>
              <a:rPr lang="en-US" sz="1250" dirty="0">
                <a:solidFill>
                  <a:srgbClr val="FFFFFF"/>
                </a:solidFill>
                <a:latin typeface="Hind" pitchFamily="34" charset="0"/>
                <a:ea typeface="Hind" pitchFamily="34" charset="-122"/>
                <a:cs typeface="Hind" pitchFamily="34" charset="-120"/>
              </a:rPr>
              <a:t>The prototype already demonstrates the core promise: see the fleet, test the choice, understand the impact.</a:t>
            </a:r>
            <a:endParaRPr lang="en-US" sz="1250" dirty="0"/>
          </a:p>
        </p:txBody>
      </p:sp>
      <p:sp>
        <p:nvSpPr>
          <p:cNvPr id="20" name="Text 17"/>
          <p:cNvSpPr/>
          <p:nvPr/>
        </p:nvSpPr>
        <p:spPr>
          <a:xfrm>
            <a:off x="11744130" y="61714"/>
            <a:ext cx="447565"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06</a:t>
            </a:r>
            <a:endParaRPr lang="en-US" sz="1050" dirty="0"/>
          </a:p>
        </p:txBody>
      </p:sp>
      <p:sp>
        <p:nvSpPr>
          <p:cNvPr id="21" name="Shape 18"/>
          <p:cNvSpPr/>
          <p:nvPr/>
        </p:nvSpPr>
        <p:spPr>
          <a:xfrm>
            <a:off x="5719024" y="3656707"/>
            <a:ext cx="5761489" cy="12700"/>
          </a:xfrm>
          <a:prstGeom prst="rect">
            <a:avLst/>
          </a:prstGeom>
          <a:solidFill>
            <a:srgbClr val="9A6A88"/>
          </a:solidFill>
          <a:ln/>
        </p:spPr>
      </p:sp>
      <p:sp>
        <p:nvSpPr>
          <p:cNvPr id="22" name="Shape 19"/>
          <p:cNvSpPr/>
          <p:nvPr/>
        </p:nvSpPr>
        <p:spPr>
          <a:xfrm>
            <a:off x="5719024" y="4718447"/>
            <a:ext cx="5761489" cy="12700"/>
          </a:xfrm>
          <a:prstGeom prst="rect">
            <a:avLst/>
          </a:prstGeom>
          <a:solidFill>
            <a:srgbClr val="9A6A8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VALUE AND NEXT HORIZON</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06</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406390" y="1118235"/>
            <a:ext cx="11378915" cy="518120"/>
          </a:xfrm>
          <a:prstGeom prst="rect">
            <a:avLst/>
          </a:prstGeom>
          <a:noFill/>
          <a:ln/>
        </p:spPr>
        <p:txBody>
          <a:bodyPr wrap="none" lIns="0" tIns="0" rIns="0" bIns="0" rtlCol="0" anchor="t"/>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Benefits now, adaptive logistics next</a:t>
            </a:r>
            <a:endParaRPr lang="en-US" sz="4000" dirty="0"/>
          </a:p>
        </p:txBody>
      </p:sp>
      <p:sp>
        <p:nvSpPr>
          <p:cNvPr id="6" name="Text 4"/>
          <p:cNvSpPr/>
          <p:nvPr/>
        </p:nvSpPr>
        <p:spPr>
          <a:xfrm>
            <a:off x="406390" y="1781770"/>
            <a:ext cx="11785305"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Start with a clearer decision today, then let the operating loop become more adaptive over time.</a:t>
            </a:r>
            <a:endParaRPr lang="en-US" sz="1600" dirty="0"/>
          </a:p>
        </p:txBody>
      </p:sp>
      <p:sp>
        <p:nvSpPr>
          <p:cNvPr id="7" name="Shape 5"/>
          <p:cNvSpPr/>
          <p:nvPr/>
        </p:nvSpPr>
        <p:spPr>
          <a:xfrm>
            <a:off x="406390" y="2235895"/>
            <a:ext cx="5537061" cy="2666504"/>
          </a:xfrm>
          <a:prstGeom prst="rect">
            <a:avLst/>
          </a:prstGeom>
          <a:solidFill>
            <a:srgbClr val="4A1638"/>
          </a:solidFill>
          <a:ln/>
        </p:spPr>
      </p:sp>
      <p:sp>
        <p:nvSpPr>
          <p:cNvPr id="8" name="Text 6"/>
          <p:cNvSpPr/>
          <p:nvPr/>
        </p:nvSpPr>
        <p:spPr>
          <a:xfrm>
            <a:off x="711182" y="2524026"/>
            <a:ext cx="5232269"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FFFFFF"/>
                </a:solidFill>
                <a:latin typeface="JetBrains Mono SemiBold" pitchFamily="34" charset="0"/>
                <a:ea typeface="JetBrains Mono SemiBold" pitchFamily="34" charset="-122"/>
                <a:cs typeface="JetBrains Mono SemiBold" pitchFamily="34" charset="-120"/>
              </a:rPr>
              <a:t>NOW</a:t>
            </a:r>
            <a:endParaRPr lang="en-US" sz="1100" dirty="0"/>
          </a:p>
        </p:txBody>
      </p:sp>
      <p:sp>
        <p:nvSpPr>
          <p:cNvPr id="9" name="Text 7"/>
          <p:cNvSpPr/>
          <p:nvPr/>
        </p:nvSpPr>
        <p:spPr>
          <a:xfrm>
            <a:off x="711182" y="2800727"/>
            <a:ext cx="4927477" cy="777081"/>
          </a:xfrm>
          <a:prstGeom prst="rect">
            <a:avLst/>
          </a:prstGeom>
          <a:noFill/>
          <a:ln/>
        </p:spPr>
        <p:txBody>
          <a:bodyPr wrap="square" lIns="0" tIns="0" rIns="0" bIns="0" rtlCol="0" anchor="t">
            <a:normAutofit/>
          </a:bodyPr>
          <a:lstStyle/>
          <a:p>
            <a:pPr algn="l" indent="0" marL="0">
              <a:lnSpc>
                <a:spcPct val="85000"/>
              </a:lnSpc>
              <a:buNone/>
            </a:pPr>
            <a:r>
              <a:rPr lang="en-US" sz="3000" dirty="0">
                <a:solidFill>
                  <a:srgbClr val="FFFFFF"/>
                </a:solidFill>
                <a:latin typeface="Saira Semi Condensed ExtraBold" pitchFamily="34" charset="0"/>
                <a:ea typeface="Saira Semi Condensed ExtraBold" pitchFamily="34" charset="-122"/>
                <a:cs typeface="Saira Semi Condensed ExtraBold" pitchFamily="34" charset="-120"/>
              </a:rPr>
              <a:t>Make dispatch more deliberate</a:t>
            </a:r>
            <a:endParaRPr lang="en-US" sz="3000" dirty="0"/>
          </a:p>
        </p:txBody>
      </p:sp>
      <p:sp>
        <p:nvSpPr>
          <p:cNvPr id="10" name="Text 8"/>
          <p:cNvSpPr/>
          <p:nvPr/>
        </p:nvSpPr>
        <p:spPr>
          <a:xfrm>
            <a:off x="711182" y="3743226"/>
            <a:ext cx="4927477" cy="879773"/>
          </a:xfrm>
          <a:prstGeom prst="rect">
            <a:avLst/>
          </a:prstGeom>
          <a:noFill/>
          <a:ln/>
        </p:spPr>
        <p:txBody>
          <a:bodyPr wrap="square" lIns="0" tIns="0" rIns="0" bIns="0" rtlCol="0" anchor="t">
            <a:normAutofit/>
          </a:bodyPr>
          <a:lstStyle/>
          <a:p>
            <a:pPr algn="l" marL="325120" indent="-325120">
              <a:lnSpc>
                <a:spcPct val="113000"/>
              </a:lnSpc>
              <a:buSzPct val="100000"/>
              <a:buChar char="•"/>
            </a:pPr>
            <a:r>
              <a:rPr lang="en-US" sz="1600" dirty="0">
                <a:solidFill>
                  <a:srgbClr val="FFFFFF"/>
                </a:solidFill>
                <a:latin typeface="Hind" pitchFamily="34" charset="0"/>
                <a:ea typeface="Hind" pitchFamily="34" charset="-122"/>
                <a:cs typeface="Hind" pitchFamily="34" charset="-120"/>
              </a:rPr>
              <a:t>Faster decisions through one shared operating picture.</a:t>
            </a:r>
            <a:endParaRPr lang="en-US" sz="1600" dirty="0"/>
          </a:p>
          <a:p>
            <a:pPr algn="l" marL="325120" indent="-325120">
              <a:lnSpc>
                <a:spcPct val="113000"/>
              </a:lnSpc>
              <a:buSzPct val="100000"/>
              <a:buChar char="•"/>
            </a:pPr>
            <a:r>
              <a:rPr lang="en-US" sz="1600" dirty="0">
                <a:solidFill>
                  <a:srgbClr val="FFFFFF"/>
                </a:solidFill>
                <a:latin typeface="Hind" pitchFamily="34" charset="0"/>
                <a:ea typeface="Hind" pitchFamily="34" charset="-122"/>
                <a:cs typeface="Hind" pitchFamily="34" charset="-120"/>
              </a:rPr>
              <a:t>Better use of vehicle capacity and route context.</a:t>
            </a:r>
            <a:endParaRPr lang="en-US" sz="1600" dirty="0"/>
          </a:p>
        </p:txBody>
      </p:sp>
      <p:sp>
        <p:nvSpPr>
          <p:cNvPr id="11" name="Shape 9"/>
          <p:cNvSpPr/>
          <p:nvPr/>
        </p:nvSpPr>
        <p:spPr>
          <a:xfrm>
            <a:off x="6248244" y="2235895"/>
            <a:ext cx="5537061" cy="2666504"/>
          </a:xfrm>
          <a:prstGeom prst="rect">
            <a:avLst/>
          </a:prstGeom>
          <a:solidFill>
            <a:srgbClr val="4FD1D9"/>
          </a:solidFill>
          <a:ln/>
        </p:spPr>
      </p:sp>
      <p:sp>
        <p:nvSpPr>
          <p:cNvPr id="12" name="Text 10"/>
          <p:cNvSpPr/>
          <p:nvPr/>
        </p:nvSpPr>
        <p:spPr>
          <a:xfrm>
            <a:off x="6553036" y="2524026"/>
            <a:ext cx="5232269"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000000"/>
                </a:solidFill>
                <a:latin typeface="JetBrains Mono SemiBold" pitchFamily="34" charset="0"/>
                <a:ea typeface="JetBrains Mono SemiBold" pitchFamily="34" charset="-122"/>
                <a:cs typeface="JetBrains Mono SemiBold" pitchFamily="34" charset="-120"/>
              </a:rPr>
              <a:t>NEXT</a:t>
            </a:r>
            <a:endParaRPr lang="en-US" sz="1100" dirty="0"/>
          </a:p>
        </p:txBody>
      </p:sp>
      <p:sp>
        <p:nvSpPr>
          <p:cNvPr id="13" name="Text 11"/>
          <p:cNvSpPr/>
          <p:nvPr/>
        </p:nvSpPr>
        <p:spPr>
          <a:xfrm>
            <a:off x="6553036" y="2800727"/>
            <a:ext cx="4927477" cy="388541"/>
          </a:xfrm>
          <a:prstGeom prst="rect">
            <a:avLst/>
          </a:prstGeom>
          <a:noFill/>
          <a:ln/>
        </p:spPr>
        <p:txBody>
          <a:bodyPr wrap="none" lIns="0" tIns="0" rIns="0" bIns="0" rtlCol="0" anchor="t"/>
          <a:lstStyle/>
          <a:p>
            <a:pPr algn="l" indent="0" marL="0">
              <a:lnSpc>
                <a:spcPct val="85000"/>
              </a:lnSpc>
              <a:buNone/>
            </a:pPr>
            <a:r>
              <a:rPr lang="en-US" sz="3000" dirty="0">
                <a:solidFill>
                  <a:srgbClr val="000000"/>
                </a:solidFill>
                <a:latin typeface="Saira Semi Condensed ExtraBold" pitchFamily="34" charset="0"/>
                <a:ea typeface="Saira Semi Condensed ExtraBold" pitchFamily="34" charset="-122"/>
                <a:cs typeface="Saira Semi Condensed ExtraBold" pitchFamily="34" charset="-120"/>
              </a:rPr>
              <a:t>Make logistics adaptive</a:t>
            </a:r>
            <a:endParaRPr lang="en-US" sz="3000" dirty="0"/>
          </a:p>
        </p:txBody>
      </p:sp>
      <p:sp>
        <p:nvSpPr>
          <p:cNvPr id="14" name="Text 12"/>
          <p:cNvSpPr/>
          <p:nvPr/>
        </p:nvSpPr>
        <p:spPr>
          <a:xfrm>
            <a:off x="6553036" y="3354685"/>
            <a:ext cx="4927477" cy="930573"/>
          </a:xfrm>
          <a:prstGeom prst="rect">
            <a:avLst/>
          </a:prstGeom>
          <a:noFill/>
          <a:ln/>
        </p:spPr>
        <p:txBody>
          <a:bodyPr wrap="square" lIns="0" tIns="0" rIns="0" bIns="0" rtlCol="0" anchor="t">
            <a:normAutofit/>
          </a:bodyPr>
          <a:lstStyle/>
          <a:p>
            <a:pPr algn="l" marL="325120" indent="-325120">
              <a:lnSpc>
                <a:spcPct val="113000"/>
              </a:lnSpc>
              <a:buSzPct val="100000"/>
              <a:buChar char="•"/>
            </a:pPr>
            <a:r>
              <a:rPr lang="en-US" sz="1600" dirty="0">
                <a:solidFill>
                  <a:srgbClr val="000000"/>
                </a:solidFill>
                <a:latin typeface="Hind" pitchFamily="34" charset="0"/>
                <a:ea typeface="Hind" pitchFamily="34" charset="-122"/>
                <a:cs typeface="Hind" pitchFamily="34" charset="-120"/>
              </a:rPr>
              <a:t>Dynamic rerouting as conditions change.</a:t>
            </a:r>
            <a:endParaRPr lang="en-US" sz="1600" dirty="0"/>
          </a:p>
          <a:p>
            <a:pPr algn="l" marL="325120" indent="-325120">
              <a:lnSpc>
                <a:spcPct val="113000"/>
              </a:lnSpc>
              <a:buSzPct val="100000"/>
              <a:buChar char="•"/>
            </a:pPr>
            <a:r>
              <a:rPr lang="en-US" sz="1600" dirty="0">
                <a:solidFill>
                  <a:srgbClr val="000000"/>
                </a:solidFill>
                <a:latin typeface="Hind" pitchFamily="34" charset="0"/>
                <a:ea typeface="Hind" pitchFamily="34" charset="-122"/>
                <a:cs typeface="Hind" pitchFamily="34" charset="-120"/>
              </a:rPr>
              <a:t>Predictive maintenance and charger planning.</a:t>
            </a:r>
            <a:endParaRPr lang="en-US" sz="1600" dirty="0"/>
          </a:p>
          <a:p>
            <a:pPr algn="l" marL="325120" indent="-325120">
              <a:lnSpc>
                <a:spcPct val="113000"/>
              </a:lnSpc>
              <a:buSzPct val="100000"/>
              <a:buChar char="•"/>
            </a:pPr>
            <a:r>
              <a:rPr lang="en-US" sz="1600" dirty="0">
                <a:solidFill>
                  <a:srgbClr val="000000"/>
                </a:solidFill>
                <a:latin typeface="Hind" pitchFamily="34" charset="0"/>
                <a:ea typeface="Hind" pitchFamily="34" charset="-122"/>
                <a:cs typeface="Hind" pitchFamily="34" charset="-120"/>
              </a:rPr>
              <a:t>More coordinated warehouse handoffs.</a:t>
            </a:r>
            <a:endParaRPr lang="en-US" sz="1600" dirty="0"/>
          </a:p>
        </p:txBody>
      </p:sp>
      <p:sp>
        <p:nvSpPr>
          <p:cNvPr id="15" name="Text 13"/>
          <p:cNvSpPr/>
          <p:nvPr/>
        </p:nvSpPr>
        <p:spPr>
          <a:xfrm>
            <a:off x="406390" y="5439966"/>
            <a:ext cx="11785305"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THE PRODUCT STARTS AS A DECISION SYSTEM AND GROWS INTO AN ADAPTIVE OPERATING LOOP.</a:t>
            </a:r>
            <a:endParaRPr lang="en-US" sz="1050" dirty="0"/>
          </a:p>
        </p:txBody>
      </p:sp>
      <p:sp>
        <p:nvSpPr>
          <p:cNvPr id="16" name="Shape 14"/>
          <p:cNvSpPr/>
          <p:nvPr/>
        </p:nvSpPr>
        <p:spPr>
          <a:xfrm>
            <a:off x="0" y="5829300"/>
            <a:ext cx="12191695" cy="1028700"/>
          </a:xfrm>
          <a:prstGeom prst="rect">
            <a:avLst/>
          </a:prstGeom>
          <a:solidFill>
            <a:srgbClr val="6B2752"/>
          </a:solidFill>
          <a:ln/>
        </p:spPr>
      </p:sp>
      <p:sp>
        <p:nvSpPr>
          <p:cNvPr id="17" name="Shape 15"/>
          <p:cNvSpPr/>
          <p:nvPr/>
        </p:nvSpPr>
        <p:spPr>
          <a:xfrm>
            <a:off x="0" y="5829300"/>
            <a:ext cx="12191695" cy="25400"/>
          </a:xfrm>
          <a:prstGeom prst="rect">
            <a:avLst/>
          </a:prstGeom>
          <a:solidFill>
            <a:srgbClr val="FFB23E"/>
          </a:solidFill>
          <a:ln/>
        </p:spPr>
      </p:sp>
      <p:sp>
        <p:nvSpPr>
          <p:cNvPr id="18" name="Text 16"/>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19" name="Text 17"/>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EcoRoute creates immediate operational value without closing off the path to more autonomous logistics.</a:t>
            </a:r>
            <a:endParaRPr lang="en-US" sz="1600" dirty="0"/>
          </a:p>
        </p:txBody>
      </p:sp>
      <p:sp>
        <p:nvSpPr>
          <p:cNvPr id="20" name="Text 18"/>
          <p:cNvSpPr/>
          <p:nvPr/>
        </p:nvSpPr>
        <p:spPr>
          <a:xfrm>
            <a:off x="11754151" y="61714"/>
            <a:ext cx="437544"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TEAM CONTRIBUTION</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07</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406390" y="1118235"/>
            <a:ext cx="11378915" cy="518120"/>
          </a:xfrm>
          <a:prstGeom prst="rect">
            <a:avLst/>
          </a:prstGeom>
          <a:noFill/>
          <a:ln/>
        </p:spPr>
        <p:txBody>
          <a:bodyPr wrap="none" lIns="0" tIns="0" rIns="0" bIns="0" rtlCol="0" anchor="t"/>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Team contribution: build one operating loop</a:t>
            </a:r>
            <a:endParaRPr lang="en-US" sz="4000" dirty="0"/>
          </a:p>
        </p:txBody>
      </p:sp>
      <p:pic>
        <p:nvPicPr>
          <p:cNvPr id="6" name="Image 0" descr="preencoded.png">    </p:cNvPr>
          <p:cNvPicPr>
            <a:picLocks noChangeAspect="1"/>
          </p:cNvPicPr>
          <p:nvPr/>
        </p:nvPicPr>
        <p:blipFill>
          <a:blip r:embed="rId1"/>
          <a:stretch>
            <a:fillRect/>
          </a:stretch>
        </p:blipFill>
        <p:spPr>
          <a:xfrm>
            <a:off x="406390" y="1781770"/>
            <a:ext cx="406390" cy="406400"/>
          </a:xfrm>
          <a:prstGeom prst="rect">
            <a:avLst/>
          </a:prstGeom>
        </p:spPr>
      </p:pic>
      <p:sp>
        <p:nvSpPr>
          <p:cNvPr id="7" name="Text 4"/>
          <p:cNvSpPr/>
          <p:nvPr/>
        </p:nvSpPr>
        <p:spPr>
          <a:xfrm>
            <a:off x="406390" y="2302470"/>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Product</a:t>
            </a:r>
            <a:endParaRPr lang="en-US" sz="2100" dirty="0"/>
          </a:p>
        </p:txBody>
      </p:sp>
      <p:sp>
        <p:nvSpPr>
          <p:cNvPr id="8" name="Text 5"/>
          <p:cNvSpPr/>
          <p:nvPr/>
        </p:nvSpPr>
        <p:spPr>
          <a:xfrm>
            <a:off x="406390" y="2792016"/>
            <a:ext cx="5689458"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Map dispatcher, driver, and leadership needs.</a:t>
            </a:r>
            <a:endParaRPr lang="en-US" sz="1600" dirty="0"/>
          </a:p>
        </p:txBody>
      </p:sp>
      <p:pic>
        <p:nvPicPr>
          <p:cNvPr id="9" name="Image 1" descr="preencoded.png">    </p:cNvPr>
          <p:cNvPicPr>
            <a:picLocks noChangeAspect="1"/>
          </p:cNvPicPr>
          <p:nvPr/>
        </p:nvPicPr>
        <p:blipFill>
          <a:blip r:embed="rId2"/>
          <a:stretch>
            <a:fillRect/>
          </a:stretch>
        </p:blipFill>
        <p:spPr>
          <a:xfrm>
            <a:off x="6324442" y="1781770"/>
            <a:ext cx="355591" cy="406400"/>
          </a:xfrm>
          <a:prstGeom prst="rect">
            <a:avLst/>
          </a:prstGeom>
        </p:spPr>
      </p:pic>
      <p:sp>
        <p:nvSpPr>
          <p:cNvPr id="10" name="Text 6"/>
          <p:cNvSpPr/>
          <p:nvPr/>
        </p:nvSpPr>
        <p:spPr>
          <a:xfrm>
            <a:off x="6324442" y="2302470"/>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Experience</a:t>
            </a:r>
            <a:endParaRPr lang="en-US" sz="2100" dirty="0"/>
          </a:p>
        </p:txBody>
      </p:sp>
      <p:sp>
        <p:nvSpPr>
          <p:cNvPr id="11" name="Text 7"/>
          <p:cNvSpPr/>
          <p:nvPr/>
        </p:nvSpPr>
        <p:spPr>
          <a:xfrm>
            <a:off x="6324442" y="2792016"/>
            <a:ext cx="5460863"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Design the dashboard and interaction flow.</a:t>
            </a:r>
            <a:endParaRPr lang="en-US" sz="1600" dirty="0"/>
          </a:p>
        </p:txBody>
      </p:sp>
      <p:pic>
        <p:nvPicPr>
          <p:cNvPr id="12" name="Image 2" descr="preencoded.png">    </p:cNvPr>
          <p:cNvPicPr>
            <a:picLocks noChangeAspect="1"/>
          </p:cNvPicPr>
          <p:nvPr/>
        </p:nvPicPr>
        <p:blipFill>
          <a:blip r:embed="rId3"/>
          <a:stretch>
            <a:fillRect/>
          </a:stretch>
        </p:blipFill>
        <p:spPr>
          <a:xfrm>
            <a:off x="406390" y="3525540"/>
            <a:ext cx="406390" cy="406400"/>
          </a:xfrm>
          <a:prstGeom prst="rect">
            <a:avLst/>
          </a:prstGeom>
        </p:spPr>
      </p:pic>
      <p:sp>
        <p:nvSpPr>
          <p:cNvPr id="13" name="Text 8"/>
          <p:cNvSpPr/>
          <p:nvPr/>
        </p:nvSpPr>
        <p:spPr>
          <a:xfrm>
            <a:off x="406390" y="4046240"/>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Engineering and data</a:t>
            </a:r>
            <a:endParaRPr lang="en-US" sz="2100" dirty="0"/>
          </a:p>
        </p:txBody>
      </p:sp>
      <p:sp>
        <p:nvSpPr>
          <p:cNvPr id="14" name="Text 9"/>
          <p:cNvSpPr/>
          <p:nvPr/>
        </p:nvSpPr>
        <p:spPr>
          <a:xfrm>
            <a:off x="406390" y="4535785"/>
            <a:ext cx="5689458"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Connect fleet inputs, routing, analytics, and simulation.</a:t>
            </a:r>
            <a:endParaRPr lang="en-US" sz="1600" dirty="0"/>
          </a:p>
        </p:txBody>
      </p:sp>
      <p:pic>
        <p:nvPicPr>
          <p:cNvPr id="15" name="Image 3" descr="preencoded.png">    </p:cNvPr>
          <p:cNvPicPr>
            <a:picLocks noChangeAspect="1"/>
          </p:cNvPicPr>
          <p:nvPr/>
        </p:nvPicPr>
        <p:blipFill>
          <a:blip r:embed="rId4"/>
          <a:stretch>
            <a:fillRect/>
          </a:stretch>
        </p:blipFill>
        <p:spPr>
          <a:xfrm>
            <a:off x="6324442" y="3525540"/>
            <a:ext cx="355591" cy="406400"/>
          </a:xfrm>
          <a:prstGeom prst="rect">
            <a:avLst/>
          </a:prstGeom>
        </p:spPr>
      </p:pic>
      <p:sp>
        <p:nvSpPr>
          <p:cNvPr id="16" name="Text 10"/>
          <p:cNvSpPr/>
          <p:nvPr/>
        </p:nvSpPr>
        <p:spPr>
          <a:xfrm>
            <a:off x="6324442" y="4046240"/>
            <a:ext cx="5460863" cy="346670"/>
          </a:xfrm>
          <a:prstGeom prst="rect">
            <a:avLst/>
          </a:prstGeom>
          <a:noFill/>
          <a:ln/>
        </p:spPr>
        <p:txBody>
          <a:bodyPr wrap="none" lIns="0" tIns="0" rIns="0" bIns="0" rtlCol="0" anchor="t"/>
          <a:lstStyle/>
          <a:p>
            <a:pPr algn="l" indent="0" marL="0">
              <a:lnSpc>
                <a:spcPct val="108000"/>
              </a:lnSpc>
              <a:buNone/>
            </a:pPr>
            <a:r>
              <a:rPr lang="en-US" sz="2100" dirty="0">
                <a:solidFill>
                  <a:srgbClr val="FFF1E4"/>
                </a:solidFill>
                <a:latin typeface="Hind" pitchFamily="34" charset="0"/>
                <a:ea typeface="Hind" pitchFamily="34" charset="-122"/>
                <a:cs typeface="Hind" pitchFamily="34" charset="-120"/>
              </a:rPr>
              <a:t>Validation</a:t>
            </a:r>
            <a:endParaRPr lang="en-US" sz="2100" dirty="0"/>
          </a:p>
        </p:txBody>
      </p:sp>
      <p:sp>
        <p:nvSpPr>
          <p:cNvPr id="17" name="Text 11"/>
          <p:cNvSpPr/>
          <p:nvPr/>
        </p:nvSpPr>
        <p:spPr>
          <a:xfrm>
            <a:off x="6324442" y="4535785"/>
            <a:ext cx="5460863" cy="276324"/>
          </a:xfrm>
          <a:prstGeom prst="rect">
            <a:avLst/>
          </a:prstGeom>
          <a:noFill/>
          <a:ln/>
        </p:spPr>
        <p:txBody>
          <a:bodyPr wrap="none" lIns="0" tIns="0" rIns="0" bIns="0" rtlCol="0" anchor="t"/>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Test scenarios, document outcomes, and present the impact.</a:t>
            </a:r>
            <a:endParaRPr lang="en-US" sz="1600" dirty="0"/>
          </a:p>
        </p:txBody>
      </p:sp>
      <p:sp>
        <p:nvSpPr>
          <p:cNvPr id="18" name="Shape 12"/>
          <p:cNvSpPr/>
          <p:nvPr/>
        </p:nvSpPr>
        <p:spPr>
          <a:xfrm>
            <a:off x="0" y="5829300"/>
            <a:ext cx="12191695" cy="1028700"/>
          </a:xfrm>
          <a:prstGeom prst="rect">
            <a:avLst/>
          </a:prstGeom>
          <a:solidFill>
            <a:srgbClr val="6B2752"/>
          </a:solidFill>
          <a:ln/>
        </p:spPr>
      </p:sp>
      <p:sp>
        <p:nvSpPr>
          <p:cNvPr id="19" name="Shape 13"/>
          <p:cNvSpPr/>
          <p:nvPr/>
        </p:nvSpPr>
        <p:spPr>
          <a:xfrm>
            <a:off x="0" y="5829300"/>
            <a:ext cx="12191695" cy="25400"/>
          </a:xfrm>
          <a:prstGeom prst="rect">
            <a:avLst/>
          </a:prstGeom>
          <a:solidFill>
            <a:srgbClr val="FFB23E"/>
          </a:solidFill>
          <a:ln/>
        </p:spPr>
      </p:sp>
      <p:sp>
        <p:nvSpPr>
          <p:cNvPr id="20" name="Text 14"/>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21" name="Text 15"/>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Roles, data, and measurable action connect the work.</a:t>
            </a:r>
            <a:endParaRPr lang="en-US" sz="1600" dirty="0"/>
          </a:p>
        </p:txBody>
      </p:sp>
      <p:sp>
        <p:nvSpPr>
          <p:cNvPr id="22" name="Text 16"/>
          <p:cNvSpPr/>
          <p:nvPr/>
        </p:nvSpPr>
        <p:spPr>
          <a:xfrm>
            <a:off x="11742841" y="61714"/>
            <a:ext cx="448854"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08</a:t>
            </a:r>
            <a:endParaRPr lang="en-US" sz="1050" dirty="0"/>
          </a:p>
        </p:txBody>
      </p:sp>
      <p:sp>
        <p:nvSpPr>
          <p:cNvPr id="23" name="Shape 17"/>
          <p:cNvSpPr/>
          <p:nvPr/>
        </p:nvSpPr>
        <p:spPr>
          <a:xfrm>
            <a:off x="6089498" y="1781770"/>
            <a:ext cx="12700" cy="1515170"/>
          </a:xfrm>
          <a:prstGeom prst="rect">
            <a:avLst/>
          </a:prstGeom>
          <a:solidFill>
            <a:srgbClr val="9A6A88"/>
          </a:solidFill>
          <a:ln/>
        </p:spPr>
      </p:sp>
      <p:sp>
        <p:nvSpPr>
          <p:cNvPr id="24" name="Shape 18"/>
          <p:cNvSpPr/>
          <p:nvPr/>
        </p:nvSpPr>
        <p:spPr>
          <a:xfrm>
            <a:off x="406390" y="3290590"/>
            <a:ext cx="5689458" cy="12700"/>
          </a:xfrm>
          <a:prstGeom prst="rect">
            <a:avLst/>
          </a:prstGeom>
          <a:solidFill>
            <a:srgbClr val="9A6A88"/>
          </a:solidFill>
          <a:ln/>
        </p:spPr>
      </p:sp>
      <p:sp>
        <p:nvSpPr>
          <p:cNvPr id="25" name="Shape 19"/>
          <p:cNvSpPr/>
          <p:nvPr/>
        </p:nvSpPr>
        <p:spPr>
          <a:xfrm>
            <a:off x="6089498" y="3296940"/>
            <a:ext cx="12700" cy="1515170"/>
          </a:xfrm>
          <a:prstGeom prst="rect">
            <a:avLst/>
          </a:prstGeom>
          <a:solidFill>
            <a:srgbClr val="9A6A88"/>
          </a:solidFill>
          <a:ln/>
        </p:spPr>
      </p:sp>
      <p:sp>
        <p:nvSpPr>
          <p:cNvPr id="26" name="Shape 20"/>
          <p:cNvSpPr/>
          <p:nvPr/>
        </p:nvSpPr>
        <p:spPr>
          <a:xfrm>
            <a:off x="6095848" y="3290590"/>
            <a:ext cx="5689458" cy="12700"/>
          </a:xfrm>
          <a:prstGeom prst="rect">
            <a:avLst/>
          </a:prstGeom>
          <a:solidFill>
            <a:srgbClr val="9A6A88"/>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06390" y="338931"/>
            <a:ext cx="7585877"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PRODUCT EVIDENCE</a:t>
            </a:r>
            <a:endParaRPr lang="en-US" sz="1100" dirty="0"/>
          </a:p>
        </p:txBody>
      </p:sp>
      <p:sp>
        <p:nvSpPr>
          <p:cNvPr id="3" name="Text 1"/>
          <p:cNvSpPr/>
          <p:nvPr/>
        </p:nvSpPr>
        <p:spPr>
          <a:xfrm>
            <a:off x="7992267" y="336153"/>
            <a:ext cx="3792939"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08</a:t>
            </a:r>
            <a:endParaRPr lang="en-US" sz="1050" dirty="0"/>
          </a:p>
        </p:txBody>
      </p:sp>
      <p:sp>
        <p:nvSpPr>
          <p:cNvPr id="4" name="Shape 2"/>
          <p:cNvSpPr/>
          <p:nvPr/>
        </p:nvSpPr>
        <p:spPr>
          <a:xfrm>
            <a:off x="406390" y="731837"/>
            <a:ext cx="11378915" cy="31651"/>
          </a:xfrm>
          <a:prstGeom prst="roundRect">
            <a:avLst>
              <a:gd name="adj" fmla="val 49998"/>
            </a:avLst>
          </a:prstGeom>
          <a:solidFill>
            <a:srgbClr val="9A6A88"/>
          </a:solidFill>
          <a:ln/>
        </p:spPr>
      </p:sp>
      <p:sp>
        <p:nvSpPr>
          <p:cNvPr id="5" name="Text 3"/>
          <p:cNvSpPr/>
          <p:nvPr/>
        </p:nvSpPr>
        <p:spPr>
          <a:xfrm>
            <a:off x="711182" y="2492315"/>
            <a:ext cx="5761389" cy="1036241"/>
          </a:xfrm>
          <a:prstGeom prst="rect">
            <a:avLst/>
          </a:prstGeom>
          <a:noFill/>
          <a:ln/>
        </p:spPr>
        <p:txBody>
          <a:bodyPr wrap="square" lIns="0" tIns="0" rIns="0" bIns="0" rtlCol="0" anchor="t">
            <a:normAutofit/>
          </a:bodyPr>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Prototype screen: route optimization in action</a:t>
            </a:r>
            <a:endParaRPr lang="en-US" sz="4000" dirty="0"/>
          </a:p>
        </p:txBody>
      </p:sp>
      <p:sp>
        <p:nvSpPr>
          <p:cNvPr id="6" name="Text 4"/>
          <p:cNvSpPr/>
          <p:nvPr/>
        </p:nvSpPr>
        <p:spPr>
          <a:xfrm>
            <a:off x="711182" y="3673971"/>
            <a:ext cx="5761389"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Adjust payload, elevation, traffic avoidance, and EV preference to see the route and KPI picture respond.</a:t>
            </a:r>
            <a:endParaRPr lang="en-US" sz="1600" dirty="0"/>
          </a:p>
        </p:txBody>
      </p:sp>
      <p:sp>
        <p:nvSpPr>
          <p:cNvPr id="7" name="Shape 5"/>
          <p:cNvSpPr/>
          <p:nvPr/>
        </p:nvSpPr>
        <p:spPr>
          <a:xfrm>
            <a:off x="7234553" y="1066800"/>
            <a:ext cx="4550753" cy="4533900"/>
          </a:xfrm>
          <a:prstGeom prst="rect">
            <a:avLst/>
          </a:prstGeom>
          <a:solidFill>
            <a:srgbClr val="61284C"/>
          </a:solidFill>
          <a:ln/>
        </p:spPr>
      </p:sp>
      <p:pic>
        <p:nvPicPr>
          <p:cNvPr id="8" name="Image 0" descr="preencoded.png">    </p:cNvPr>
          <p:cNvPicPr>
            <a:picLocks noChangeAspect="1"/>
          </p:cNvPicPr>
          <p:nvPr/>
        </p:nvPicPr>
        <p:blipFill>
          <a:blip r:embed="rId1"/>
          <a:stretch>
            <a:fillRect/>
          </a:stretch>
        </p:blipFill>
        <p:spPr>
          <a:xfrm>
            <a:off x="7412348" y="1244600"/>
            <a:ext cx="4190895" cy="2117229"/>
          </a:xfrm>
          <a:prstGeom prst="rect">
            <a:avLst/>
          </a:prstGeom>
        </p:spPr>
      </p:pic>
      <p:sp>
        <p:nvSpPr>
          <p:cNvPr id="9" name="Text 6"/>
          <p:cNvSpPr/>
          <p:nvPr/>
        </p:nvSpPr>
        <p:spPr>
          <a:xfrm>
            <a:off x="7412348" y="3621782"/>
            <a:ext cx="4372957"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F7E9EF"/>
                </a:solidFill>
                <a:latin typeface="JetBrains Mono Medium" pitchFamily="34" charset="0"/>
                <a:ea typeface="JetBrains Mono Medium" pitchFamily="34" charset="-122"/>
                <a:cs typeface="JetBrains Mono Medium" pitchFamily="34" charset="-120"/>
              </a:rPr>
              <a:t>PROTOTYPE · ROUTE OPTIMIZATION</a:t>
            </a:r>
            <a:endParaRPr lang="en-US" sz="1050" dirty="0"/>
          </a:p>
        </p:txBody>
      </p:sp>
      <p:sp>
        <p:nvSpPr>
          <p:cNvPr id="10" name="Shape 7"/>
          <p:cNvSpPr/>
          <p:nvPr/>
        </p:nvSpPr>
        <p:spPr>
          <a:xfrm>
            <a:off x="0" y="5829300"/>
            <a:ext cx="12191695" cy="1028700"/>
          </a:xfrm>
          <a:prstGeom prst="rect">
            <a:avLst/>
          </a:prstGeom>
          <a:solidFill>
            <a:srgbClr val="6B2752"/>
          </a:solidFill>
          <a:ln/>
        </p:spPr>
      </p:sp>
      <p:sp>
        <p:nvSpPr>
          <p:cNvPr id="11" name="Shape 8"/>
          <p:cNvSpPr/>
          <p:nvPr/>
        </p:nvSpPr>
        <p:spPr>
          <a:xfrm>
            <a:off x="0" y="5829300"/>
            <a:ext cx="12191695" cy="25400"/>
          </a:xfrm>
          <a:prstGeom prst="rect">
            <a:avLst/>
          </a:prstGeom>
          <a:solidFill>
            <a:srgbClr val="FFB23E"/>
          </a:solidFill>
          <a:ln/>
        </p:spPr>
      </p:sp>
      <p:sp>
        <p:nvSpPr>
          <p:cNvPr id="12" name="Text 9"/>
          <p:cNvSpPr/>
          <p:nvPr/>
        </p:nvSpPr>
        <p:spPr>
          <a:xfrm>
            <a:off x="406390" y="6246713"/>
            <a:ext cx="1896420" cy="266700"/>
          </a:xfrm>
          <a:prstGeom prst="rect">
            <a:avLst/>
          </a:prstGeom>
          <a:noFill/>
          <a:ln/>
        </p:spPr>
        <p:txBody>
          <a:bodyPr wrap="none" lIns="0" tIns="0" rIns="0" bIns="0" rtlCol="0" anchor="t"/>
          <a:lstStyle/>
          <a:p>
            <a:pPr algn="l" indent="0" marL="0">
              <a:lnSpc>
                <a:spcPct val="83000"/>
              </a:lnSpc>
              <a:buNone/>
            </a:pPr>
            <a:r>
              <a:rPr lang="en-US" sz="2100" b="1" spc="126" kern="100" dirty="0">
                <a:solidFill>
                  <a:srgbClr val="FFB23E"/>
                </a:solidFill>
                <a:latin typeface="Saira Semi Condensed Bold" pitchFamily="34" charset="0"/>
                <a:ea typeface="Saira Semi Condensed Bold" pitchFamily="34" charset="-122"/>
                <a:cs typeface="Saira Semi Condensed Bold" pitchFamily="34" charset="-120"/>
              </a:rPr>
              <a:t>SO WHAT</a:t>
            </a:r>
            <a:endParaRPr lang="en-US" sz="2100" dirty="0"/>
          </a:p>
        </p:txBody>
      </p:sp>
      <p:sp>
        <p:nvSpPr>
          <p:cNvPr id="13" name="Text 10"/>
          <p:cNvSpPr/>
          <p:nvPr/>
        </p:nvSpPr>
        <p:spPr>
          <a:xfrm>
            <a:off x="2302810" y="6218138"/>
            <a:ext cx="9482496" cy="276324"/>
          </a:xfrm>
          <a:prstGeom prst="rect">
            <a:avLst/>
          </a:prstGeom>
          <a:noFill/>
          <a:ln/>
        </p:spPr>
        <p:txBody>
          <a:bodyPr wrap="none" lIns="0" tIns="0" rIns="0" bIns="0" rtlCol="0" anchor="t"/>
          <a:lstStyle/>
          <a:p>
            <a:pPr algn="l" indent="0" marL="0">
              <a:lnSpc>
                <a:spcPct val="113000"/>
              </a:lnSpc>
              <a:buNone/>
            </a:pPr>
            <a:r>
              <a:rPr lang="en-US" sz="1600" dirty="0">
                <a:solidFill>
                  <a:srgbClr val="FFFFFF"/>
                </a:solidFill>
                <a:latin typeface="Hind" pitchFamily="34" charset="0"/>
                <a:ea typeface="Hind" pitchFamily="34" charset="-122"/>
                <a:cs typeface="Hind" pitchFamily="34" charset="-120"/>
              </a:rPr>
              <a:t>The interface makes trade-offs inspectable before dispatch, where they are still easy to change.</a:t>
            </a:r>
            <a:endParaRPr lang="en-US" sz="1600" dirty="0"/>
          </a:p>
        </p:txBody>
      </p:sp>
      <p:sp>
        <p:nvSpPr>
          <p:cNvPr id="14" name="Text 11"/>
          <p:cNvSpPr/>
          <p:nvPr/>
        </p:nvSpPr>
        <p:spPr>
          <a:xfrm>
            <a:off x="11747107" y="61714"/>
            <a:ext cx="444588"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4693822" cy="6858000"/>
          </a:xfrm>
          <a:prstGeom prst="rect">
            <a:avLst/>
          </a:prstGeom>
          <a:solidFill>
            <a:srgbClr val="61284C"/>
          </a:solidFill>
          <a:ln/>
        </p:spPr>
      </p:sp>
      <p:pic>
        <p:nvPicPr>
          <p:cNvPr id="3" name="Image 0" descr="preencoded.png">    </p:cNvPr>
          <p:cNvPicPr>
            <a:picLocks noChangeAspect="1"/>
          </p:cNvPicPr>
          <p:nvPr/>
        </p:nvPicPr>
        <p:blipFill>
          <a:blip r:embed="rId1"/>
          <a:stretch>
            <a:fillRect/>
          </a:stretch>
        </p:blipFill>
        <p:spPr>
          <a:xfrm>
            <a:off x="304792" y="304800"/>
            <a:ext cx="4084238" cy="6002338"/>
          </a:xfrm>
          <a:prstGeom prst="rect">
            <a:avLst/>
          </a:prstGeom>
        </p:spPr>
      </p:pic>
      <p:sp>
        <p:nvSpPr>
          <p:cNvPr id="4" name="Text 1"/>
          <p:cNvSpPr/>
          <p:nvPr/>
        </p:nvSpPr>
        <p:spPr>
          <a:xfrm>
            <a:off x="304792" y="6392466"/>
            <a:ext cx="4389030" cy="166687"/>
          </a:xfrm>
          <a:prstGeom prst="rect">
            <a:avLst/>
          </a:prstGeom>
          <a:noFill/>
          <a:ln/>
        </p:spPr>
        <p:txBody>
          <a:bodyPr wrap="none" lIns="0" tIns="0" rIns="0" bIns="0" rtlCol="0" anchor="t"/>
          <a:lstStyle/>
          <a:p>
            <a:pPr algn="l" indent="0" marL="0">
              <a:lnSpc>
                <a:spcPct val="104000"/>
              </a:lnSpc>
              <a:buNone/>
            </a:pPr>
            <a:r>
              <a:rPr lang="en-US" sz="1050" spc="10" kern="100" dirty="0">
                <a:solidFill>
                  <a:srgbClr val="F7E9EF"/>
                </a:solidFill>
                <a:latin typeface="JetBrains Mono Medium" pitchFamily="34" charset="0"/>
                <a:ea typeface="JetBrains Mono Medium" pitchFamily="34" charset="-122"/>
                <a:cs typeface="JetBrains Mono Medium" pitchFamily="34" charset="-120"/>
              </a:rPr>
              <a:t>PROTOTYPE · SHARED FLEET SCORECARD</a:t>
            </a:r>
            <a:endParaRPr lang="en-US" sz="1050" dirty="0"/>
          </a:p>
        </p:txBody>
      </p:sp>
      <p:sp>
        <p:nvSpPr>
          <p:cNvPr id="5" name="Text 2"/>
          <p:cNvSpPr/>
          <p:nvPr/>
        </p:nvSpPr>
        <p:spPr>
          <a:xfrm>
            <a:off x="5455704" y="313531"/>
            <a:ext cx="4709102" cy="174625"/>
          </a:xfrm>
          <a:prstGeom prst="rect">
            <a:avLst/>
          </a:prstGeom>
          <a:noFill/>
          <a:ln/>
        </p:spPr>
        <p:txBody>
          <a:bodyPr wrap="none" lIns="0" tIns="0" rIns="0" bIns="0" rtlCol="0" anchor="t"/>
          <a:lstStyle/>
          <a:p>
            <a:pPr algn="l" indent="0" marL="0">
              <a:lnSpc>
                <a:spcPct val="104000"/>
              </a:lnSpc>
              <a:buNone/>
            </a:pPr>
            <a:r>
              <a:rPr lang="en-US" sz="1100" spc="88" kern="100" dirty="0">
                <a:solidFill>
                  <a:srgbClr val="4FD1D9"/>
                </a:solidFill>
                <a:latin typeface="JetBrains Mono SemiBold" pitchFamily="34" charset="0"/>
                <a:ea typeface="JetBrains Mono SemiBold" pitchFamily="34" charset="-122"/>
                <a:cs typeface="JetBrains Mono SemiBold" pitchFamily="34" charset="-120"/>
              </a:rPr>
              <a:t>PRODUCT EVIDENCE</a:t>
            </a:r>
            <a:endParaRPr lang="en-US" sz="1100" dirty="0"/>
          </a:p>
        </p:txBody>
      </p:sp>
      <p:sp>
        <p:nvSpPr>
          <p:cNvPr id="6" name="Text 3"/>
          <p:cNvSpPr/>
          <p:nvPr/>
        </p:nvSpPr>
        <p:spPr>
          <a:xfrm>
            <a:off x="10317202" y="310753"/>
            <a:ext cx="1569701" cy="166687"/>
          </a:xfrm>
          <a:prstGeom prst="rect">
            <a:avLst/>
          </a:prstGeom>
          <a:noFill/>
          <a:ln/>
        </p:spPr>
        <p:txBody>
          <a:bodyPr wrap="none" lIns="0" tIns="0" rIns="0" bIns="0" rtlCol="0" anchor="t"/>
          <a:lstStyle/>
          <a:p>
            <a:pPr algn="r" indent="0" marL="0">
              <a:lnSpc>
                <a:spcPct val="104000"/>
              </a:lnSpc>
              <a:buNone/>
            </a:pPr>
            <a:r>
              <a:rPr lang="en-US" sz="1050" spc="10" kern="100" dirty="0">
                <a:solidFill>
                  <a:srgbClr val="D9BFCE"/>
                </a:solidFill>
                <a:latin typeface="JetBrains Mono Medium" pitchFamily="34" charset="0"/>
                <a:ea typeface="JetBrains Mono Medium" pitchFamily="34" charset="-122"/>
                <a:cs typeface="JetBrains Mono Medium" pitchFamily="34" charset="-120"/>
              </a:rPr>
              <a:t>EXHIBIT 09</a:t>
            </a:r>
            <a:endParaRPr lang="en-US" sz="1050" dirty="0"/>
          </a:p>
        </p:txBody>
      </p:sp>
      <p:sp>
        <p:nvSpPr>
          <p:cNvPr id="7" name="Text 4"/>
          <p:cNvSpPr/>
          <p:nvPr/>
        </p:nvSpPr>
        <p:spPr>
          <a:xfrm>
            <a:off x="5455704" y="867410"/>
            <a:ext cx="6431198" cy="1036241"/>
          </a:xfrm>
          <a:prstGeom prst="rect">
            <a:avLst/>
          </a:prstGeom>
          <a:noFill/>
          <a:ln/>
        </p:spPr>
        <p:txBody>
          <a:bodyPr wrap="square" lIns="0" tIns="0" rIns="0" bIns="0" rtlCol="0" anchor="t">
            <a:normAutofit/>
          </a:bodyPr>
          <a:lstStyle/>
          <a:p>
            <a:pPr algn="l" indent="0" marL="0">
              <a:lnSpc>
                <a:spcPct val="85000"/>
              </a:lnSpc>
              <a:buNone/>
            </a:pPr>
            <a:r>
              <a:rPr lang="en-US" sz="4000" dirty="0">
                <a:solidFill>
                  <a:srgbClr val="FFF1E4"/>
                </a:solidFill>
                <a:latin typeface="Saira Semi Condensed ExtraBold" pitchFamily="34" charset="0"/>
                <a:ea typeface="Saira Semi Condensed ExtraBold" pitchFamily="34" charset="-122"/>
                <a:cs typeface="Saira Semi Condensed ExtraBold" pitchFamily="34" charset="-120"/>
              </a:rPr>
              <a:t>Prototype screen: measurable fleet outcomes</a:t>
            </a:r>
            <a:endParaRPr lang="en-US" sz="4000" dirty="0"/>
          </a:p>
        </p:txBody>
      </p:sp>
      <p:sp>
        <p:nvSpPr>
          <p:cNvPr id="8" name="Text 5"/>
          <p:cNvSpPr/>
          <p:nvPr/>
        </p:nvSpPr>
        <p:spPr>
          <a:xfrm>
            <a:off x="5455704" y="2049066"/>
            <a:ext cx="6431198" cy="552648"/>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F7E9EF"/>
                </a:solidFill>
                <a:latin typeface="Hind" pitchFamily="34" charset="0"/>
                <a:ea typeface="Hind" pitchFamily="34" charset="-122"/>
                <a:cs typeface="Hind" pitchFamily="34" charset="-120"/>
              </a:rPr>
              <a:t>The prototype surfaces a shared scorecard for carbon saved, fuel saved, energy efficiency, and fleet activity.</a:t>
            </a:r>
            <a:endParaRPr lang="en-US" sz="1600" dirty="0"/>
          </a:p>
        </p:txBody>
      </p:sp>
      <p:sp>
        <p:nvSpPr>
          <p:cNvPr id="9" name="Shape 6"/>
          <p:cNvSpPr/>
          <p:nvPr/>
        </p:nvSpPr>
        <p:spPr>
          <a:xfrm>
            <a:off x="5455704" y="2779514"/>
            <a:ext cx="3063203" cy="63500"/>
          </a:xfrm>
          <a:prstGeom prst="rect">
            <a:avLst/>
          </a:prstGeom>
          <a:solidFill>
            <a:srgbClr val="4FD1D9"/>
          </a:solidFill>
          <a:ln/>
        </p:spPr>
      </p:sp>
      <p:sp>
        <p:nvSpPr>
          <p:cNvPr id="10" name="Text 7"/>
          <p:cNvSpPr/>
          <p:nvPr/>
        </p:nvSpPr>
        <p:spPr>
          <a:xfrm>
            <a:off x="5684298" y="3136701"/>
            <a:ext cx="2606014" cy="635000"/>
          </a:xfrm>
          <a:prstGeom prst="rect">
            <a:avLst/>
          </a:prstGeom>
          <a:noFill/>
          <a:ln/>
        </p:spPr>
        <p:txBody>
          <a:bodyPr wrap="none" lIns="0" tIns="0" rIns="0" bIns="0" rtlCol="0" anchor="t"/>
          <a:lstStyle/>
          <a:p>
            <a:pPr algn="l" indent="0" marL="0">
              <a:lnSpc>
                <a:spcPct val="83000"/>
              </a:lnSpc>
              <a:buNone/>
            </a:pPr>
            <a:r>
              <a:rPr lang="en-US" sz="5000" spc="-25" kern="100" dirty="0">
                <a:solidFill>
                  <a:srgbClr val="4FD1D9"/>
                </a:solidFill>
                <a:latin typeface="Saira Semi Condensed ExtraBold" pitchFamily="34" charset="0"/>
                <a:ea typeface="Saira Semi Condensed ExtraBold" pitchFamily="34" charset="-122"/>
                <a:cs typeface="Saira Semi Condensed ExtraBold" pitchFamily="34" charset="-120"/>
              </a:rPr>
              <a:t>72.7 kg</a:t>
            </a:r>
            <a:endParaRPr lang="en-US" sz="5000" dirty="0"/>
          </a:p>
        </p:txBody>
      </p:sp>
      <p:sp>
        <p:nvSpPr>
          <p:cNvPr id="11" name="Text 8"/>
          <p:cNvSpPr/>
          <p:nvPr/>
        </p:nvSpPr>
        <p:spPr>
          <a:xfrm>
            <a:off x="5684298" y="3820914"/>
            <a:ext cx="2606014" cy="297160"/>
          </a:xfrm>
          <a:prstGeom prst="rect">
            <a:avLst/>
          </a:prstGeom>
          <a:noFill/>
          <a:ln/>
        </p:spPr>
        <p:txBody>
          <a:bodyPr wrap="none" lIns="0" tIns="0" rIns="0" bIns="0" rtlCol="0" anchor="t"/>
          <a:lstStyle/>
          <a:p>
            <a:pPr algn="l" indent="0" marL="0">
              <a:lnSpc>
                <a:spcPct val="108000"/>
              </a:lnSpc>
              <a:buNone/>
            </a:pPr>
            <a:r>
              <a:rPr lang="en-US" sz="1800" dirty="0">
                <a:solidFill>
                  <a:srgbClr val="FFF1E4"/>
                </a:solidFill>
                <a:latin typeface="Hind" pitchFamily="34" charset="0"/>
                <a:ea typeface="Hind" pitchFamily="34" charset="-122"/>
                <a:cs typeface="Hind" pitchFamily="34" charset="-120"/>
              </a:rPr>
              <a:t>Carbon saved today · CO₂</a:t>
            </a:r>
            <a:endParaRPr lang="en-US" sz="1800" dirty="0"/>
          </a:p>
        </p:txBody>
      </p:sp>
      <p:sp>
        <p:nvSpPr>
          <p:cNvPr id="12" name="Shape 9"/>
          <p:cNvSpPr/>
          <p:nvPr/>
        </p:nvSpPr>
        <p:spPr>
          <a:xfrm>
            <a:off x="8823700" y="2779514"/>
            <a:ext cx="3063203" cy="63500"/>
          </a:xfrm>
          <a:prstGeom prst="rect">
            <a:avLst/>
          </a:prstGeom>
          <a:solidFill>
            <a:srgbClr val="4CCB8F"/>
          </a:solidFill>
          <a:ln/>
        </p:spPr>
      </p:sp>
      <p:sp>
        <p:nvSpPr>
          <p:cNvPr id="13" name="Text 10"/>
          <p:cNvSpPr/>
          <p:nvPr/>
        </p:nvSpPr>
        <p:spPr>
          <a:xfrm>
            <a:off x="9052294" y="3136701"/>
            <a:ext cx="2606014" cy="635000"/>
          </a:xfrm>
          <a:prstGeom prst="rect">
            <a:avLst/>
          </a:prstGeom>
          <a:noFill/>
          <a:ln/>
        </p:spPr>
        <p:txBody>
          <a:bodyPr wrap="none" lIns="0" tIns="0" rIns="0" bIns="0" rtlCol="0" anchor="t"/>
          <a:lstStyle/>
          <a:p>
            <a:pPr algn="l" indent="0" marL="0">
              <a:lnSpc>
                <a:spcPct val="83000"/>
              </a:lnSpc>
              <a:buNone/>
            </a:pPr>
            <a:r>
              <a:rPr lang="en-US" sz="5000" spc="-25" kern="100" dirty="0">
                <a:solidFill>
                  <a:srgbClr val="4CCB8F"/>
                </a:solidFill>
                <a:latin typeface="Saira Semi Condensed ExtraBold" pitchFamily="34" charset="0"/>
                <a:ea typeface="Saira Semi Condensed ExtraBold" pitchFamily="34" charset="-122"/>
                <a:cs typeface="Saira Semi Condensed ExtraBold" pitchFamily="34" charset="-120"/>
              </a:rPr>
              <a:t>32.7 L</a:t>
            </a:r>
            <a:endParaRPr lang="en-US" sz="5000" dirty="0"/>
          </a:p>
        </p:txBody>
      </p:sp>
      <p:sp>
        <p:nvSpPr>
          <p:cNvPr id="14" name="Text 11"/>
          <p:cNvSpPr/>
          <p:nvPr/>
        </p:nvSpPr>
        <p:spPr>
          <a:xfrm>
            <a:off x="9052294" y="3820914"/>
            <a:ext cx="2606014" cy="297160"/>
          </a:xfrm>
          <a:prstGeom prst="rect">
            <a:avLst/>
          </a:prstGeom>
          <a:noFill/>
          <a:ln/>
        </p:spPr>
        <p:txBody>
          <a:bodyPr wrap="none" lIns="0" tIns="0" rIns="0" bIns="0" rtlCol="0" anchor="t"/>
          <a:lstStyle/>
          <a:p>
            <a:pPr algn="l" indent="0" marL="0">
              <a:lnSpc>
                <a:spcPct val="108000"/>
              </a:lnSpc>
              <a:buNone/>
            </a:pPr>
            <a:r>
              <a:rPr lang="en-US" sz="1800" dirty="0">
                <a:solidFill>
                  <a:srgbClr val="FFF1E4"/>
                </a:solidFill>
                <a:latin typeface="Hind" pitchFamily="34" charset="0"/>
                <a:ea typeface="Hind" pitchFamily="34" charset="-122"/>
                <a:cs typeface="Hind" pitchFamily="34" charset="-120"/>
              </a:rPr>
              <a:t>Fuel saved</a:t>
            </a:r>
            <a:endParaRPr lang="en-US" sz="1800" dirty="0"/>
          </a:p>
        </p:txBody>
      </p:sp>
      <p:sp>
        <p:nvSpPr>
          <p:cNvPr id="15" name="Shape 12"/>
          <p:cNvSpPr/>
          <p:nvPr/>
        </p:nvSpPr>
        <p:spPr>
          <a:xfrm>
            <a:off x="5455704" y="4651474"/>
            <a:ext cx="3063203" cy="63500"/>
          </a:xfrm>
          <a:prstGeom prst="rect">
            <a:avLst/>
          </a:prstGeom>
          <a:solidFill>
            <a:srgbClr val="C7A6F2"/>
          </a:solidFill>
          <a:ln/>
        </p:spPr>
      </p:sp>
      <p:sp>
        <p:nvSpPr>
          <p:cNvPr id="16" name="Text 13"/>
          <p:cNvSpPr/>
          <p:nvPr/>
        </p:nvSpPr>
        <p:spPr>
          <a:xfrm>
            <a:off x="5684298" y="5008662"/>
            <a:ext cx="2606014" cy="635000"/>
          </a:xfrm>
          <a:prstGeom prst="rect">
            <a:avLst/>
          </a:prstGeom>
          <a:noFill/>
          <a:ln/>
        </p:spPr>
        <p:txBody>
          <a:bodyPr wrap="none" lIns="0" tIns="0" rIns="0" bIns="0" rtlCol="0" anchor="t"/>
          <a:lstStyle/>
          <a:p>
            <a:pPr algn="l" indent="0" marL="0">
              <a:lnSpc>
                <a:spcPct val="83000"/>
              </a:lnSpc>
              <a:buNone/>
            </a:pPr>
            <a:r>
              <a:rPr lang="en-US" sz="5000" spc="-25" kern="100" dirty="0">
                <a:solidFill>
                  <a:srgbClr val="C7A6F2"/>
                </a:solidFill>
                <a:latin typeface="Saira Semi Condensed ExtraBold" pitchFamily="34" charset="0"/>
                <a:ea typeface="Saira Semi Condensed ExtraBold" pitchFamily="34" charset="-122"/>
                <a:cs typeface="Saira Semi Condensed ExtraBold" pitchFamily="34" charset="-120"/>
              </a:rPr>
              <a:t>73%</a:t>
            </a:r>
            <a:endParaRPr lang="en-US" sz="5000" dirty="0"/>
          </a:p>
        </p:txBody>
      </p:sp>
      <p:sp>
        <p:nvSpPr>
          <p:cNvPr id="17" name="Text 14"/>
          <p:cNvSpPr/>
          <p:nvPr/>
        </p:nvSpPr>
        <p:spPr>
          <a:xfrm>
            <a:off x="5684298" y="5692874"/>
            <a:ext cx="2606014" cy="297160"/>
          </a:xfrm>
          <a:prstGeom prst="rect">
            <a:avLst/>
          </a:prstGeom>
          <a:noFill/>
          <a:ln/>
        </p:spPr>
        <p:txBody>
          <a:bodyPr wrap="none" lIns="0" tIns="0" rIns="0" bIns="0" rtlCol="0" anchor="t"/>
          <a:lstStyle/>
          <a:p>
            <a:pPr algn="l" indent="0" marL="0">
              <a:lnSpc>
                <a:spcPct val="108000"/>
              </a:lnSpc>
              <a:buNone/>
            </a:pPr>
            <a:r>
              <a:rPr lang="en-US" sz="1800" dirty="0">
                <a:solidFill>
                  <a:srgbClr val="FFF1E4"/>
                </a:solidFill>
                <a:latin typeface="Hind" pitchFamily="34" charset="0"/>
                <a:ea typeface="Hind" pitchFamily="34" charset="-122"/>
                <a:cs typeface="Hind" pitchFamily="34" charset="-120"/>
              </a:rPr>
              <a:t>Energy efficiency gain</a:t>
            </a:r>
            <a:endParaRPr lang="en-US" sz="1800" dirty="0"/>
          </a:p>
        </p:txBody>
      </p:sp>
      <p:sp>
        <p:nvSpPr>
          <p:cNvPr id="18" name="Shape 15"/>
          <p:cNvSpPr/>
          <p:nvPr/>
        </p:nvSpPr>
        <p:spPr>
          <a:xfrm>
            <a:off x="8823700" y="4651474"/>
            <a:ext cx="3063203" cy="63500"/>
          </a:xfrm>
          <a:prstGeom prst="rect">
            <a:avLst/>
          </a:prstGeom>
          <a:solidFill>
            <a:srgbClr val="FFB23E"/>
          </a:solidFill>
          <a:ln/>
        </p:spPr>
      </p:sp>
      <p:sp>
        <p:nvSpPr>
          <p:cNvPr id="19" name="Text 16"/>
          <p:cNvSpPr/>
          <p:nvPr/>
        </p:nvSpPr>
        <p:spPr>
          <a:xfrm>
            <a:off x="9052294" y="5008662"/>
            <a:ext cx="2606014" cy="635000"/>
          </a:xfrm>
          <a:prstGeom prst="rect">
            <a:avLst/>
          </a:prstGeom>
          <a:noFill/>
          <a:ln/>
        </p:spPr>
        <p:txBody>
          <a:bodyPr wrap="none" lIns="0" tIns="0" rIns="0" bIns="0" rtlCol="0" anchor="t"/>
          <a:lstStyle/>
          <a:p>
            <a:pPr algn="l" indent="0" marL="0">
              <a:lnSpc>
                <a:spcPct val="83000"/>
              </a:lnSpc>
              <a:buNone/>
            </a:pPr>
            <a:r>
              <a:rPr lang="en-US" sz="5000" spc="-25" kern="100" dirty="0">
                <a:solidFill>
                  <a:srgbClr val="FFB23E"/>
                </a:solidFill>
                <a:latin typeface="Saira Semi Condensed ExtraBold" pitchFamily="34" charset="0"/>
                <a:ea typeface="Saira Semi Condensed ExtraBold" pitchFamily="34" charset="-122"/>
                <a:cs typeface="Saira Semi Condensed ExtraBold" pitchFamily="34" charset="-120"/>
              </a:rPr>
              <a:t>3/4</a:t>
            </a:r>
            <a:endParaRPr lang="en-US" sz="5000" dirty="0"/>
          </a:p>
        </p:txBody>
      </p:sp>
      <p:sp>
        <p:nvSpPr>
          <p:cNvPr id="20" name="Text 17"/>
          <p:cNvSpPr/>
          <p:nvPr/>
        </p:nvSpPr>
        <p:spPr>
          <a:xfrm>
            <a:off x="9052294" y="5692874"/>
            <a:ext cx="2606014" cy="297160"/>
          </a:xfrm>
          <a:prstGeom prst="rect">
            <a:avLst/>
          </a:prstGeom>
          <a:noFill/>
          <a:ln/>
        </p:spPr>
        <p:txBody>
          <a:bodyPr wrap="none" lIns="0" tIns="0" rIns="0" bIns="0" rtlCol="0" anchor="t"/>
          <a:lstStyle/>
          <a:p>
            <a:pPr algn="l" indent="0" marL="0">
              <a:lnSpc>
                <a:spcPct val="108000"/>
              </a:lnSpc>
              <a:buNone/>
            </a:pPr>
            <a:r>
              <a:rPr lang="en-US" sz="1800" dirty="0">
                <a:solidFill>
                  <a:srgbClr val="FFF1E4"/>
                </a:solidFill>
                <a:latin typeface="Hind" pitchFamily="34" charset="0"/>
                <a:ea typeface="Hind" pitchFamily="34" charset="-122"/>
                <a:cs typeface="Hind" pitchFamily="34" charset="-120"/>
              </a:rPr>
              <a:t>Fleet active</a:t>
            </a:r>
            <a:endParaRPr lang="en-US" sz="1800" dirty="0"/>
          </a:p>
        </p:txBody>
      </p:sp>
      <p:sp>
        <p:nvSpPr>
          <p:cNvPr id="21" name="Text 18"/>
          <p:cNvSpPr/>
          <p:nvPr/>
        </p:nvSpPr>
        <p:spPr>
          <a:xfrm>
            <a:off x="11771216" y="61714"/>
            <a:ext cx="420479" cy="181273"/>
          </a:xfrm>
          <a:prstGeom prst="rect">
            <a:avLst/>
          </a:prstGeom>
          <a:noFill/>
          <a:ln/>
        </p:spPr>
        <p:txBody>
          <a:bodyPr wrap="none" lIns="0" tIns="0" rIns="0" bIns="0" rtlCol="0" anchor="ctr"/>
          <a:lstStyle/>
          <a:p>
            <a:pPr algn="l" indent="0" marL="0">
              <a:lnSpc>
                <a:spcPct val="113000"/>
              </a:lnSpc>
              <a:buNone/>
            </a:pPr>
            <a:r>
              <a:rPr lang="en-US" sz="1050" dirty="0">
                <a:solidFill>
                  <a:srgbClr val="F7E9EF"/>
                </a:solidFill>
                <a:latin typeface="Hind" pitchFamily="34" charset="0"/>
                <a:ea typeface="Hind" pitchFamily="34" charset="-122"/>
                <a:cs typeface="Hind" pitchFamily="34" charset="-120"/>
              </a:rPr>
              <a:t>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2026-10-12T13:26:25Z</dcterms:created>
  <dcterms:modified xsi:type="dcterms:W3CDTF">2026-10-12T13:26:25Z</dcterms:modified>
</cp:coreProperties>
</file>